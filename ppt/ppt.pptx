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3" r:id="rId7"/>
    <p:sldId id="265" r:id="rId8"/>
    <p:sldId id="266" r:id="rId9"/>
    <p:sldId id="271" r:id="rId10"/>
    <p:sldId id="270" r:id="rId11"/>
    <p:sldId id="272" r:id="rId12"/>
    <p:sldId id="273" r:id="rId13"/>
    <p:sldId id="276" r:id="rId14"/>
    <p:sldId id="274" r:id="rId15"/>
    <p:sldId id="275"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03A493-BB91-4D87-9C7C-51C8A62024A4}" v="21" dt="2026-04-25T04:35:51.276"/>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18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ini Jasthi" userId="aacf334f76787862" providerId="LiveId" clId="{9ECD17DD-078B-4397-805E-BC9139E261A8}"/>
    <pc:docChg chg="undo custSel addSld delSld modSld sldOrd">
      <pc:chgData name="Yamini Jasthi" userId="aacf334f76787862" providerId="LiveId" clId="{9ECD17DD-078B-4397-805E-BC9139E261A8}" dt="2026-04-25T04:38:53.984" v="424" actId="2711"/>
      <pc:docMkLst>
        <pc:docMk/>
      </pc:docMkLst>
      <pc:sldChg chg="modSp mod">
        <pc:chgData name="Yamini Jasthi" userId="aacf334f76787862" providerId="LiveId" clId="{9ECD17DD-078B-4397-805E-BC9139E261A8}" dt="2026-04-25T03:50:26.165" v="308" actId="20577"/>
        <pc:sldMkLst>
          <pc:docMk/>
          <pc:sldMk cId="3327235108" sldId="256"/>
        </pc:sldMkLst>
        <pc:spChg chg="mod">
          <ac:chgData name="Yamini Jasthi" userId="aacf334f76787862" providerId="LiveId" clId="{9ECD17DD-078B-4397-805E-BC9139E261A8}" dt="2026-04-25T03:50:26.165" v="308" actId="20577"/>
          <ac:spMkLst>
            <pc:docMk/>
            <pc:sldMk cId="3327235108" sldId="256"/>
            <ac:spMk id="11" creationId="{0B7BADB1-9C5D-0D1D-DF3A-60FAB2B27C55}"/>
          </ac:spMkLst>
        </pc:spChg>
      </pc:sldChg>
      <pc:sldChg chg="modSp mod">
        <pc:chgData name="Yamini Jasthi" userId="aacf334f76787862" providerId="LiveId" clId="{9ECD17DD-078B-4397-805E-BC9139E261A8}" dt="2026-04-25T03:50:54.348" v="332" actId="20577"/>
        <pc:sldMkLst>
          <pc:docMk/>
          <pc:sldMk cId="4170625430" sldId="257"/>
        </pc:sldMkLst>
        <pc:spChg chg="mod">
          <ac:chgData name="Yamini Jasthi" userId="aacf334f76787862" providerId="LiveId" clId="{9ECD17DD-078B-4397-805E-BC9139E261A8}" dt="2026-04-25T03:50:54.348" v="332" actId="20577"/>
          <ac:spMkLst>
            <pc:docMk/>
            <pc:sldMk cId="4170625430" sldId="257"/>
            <ac:spMk id="3" creationId="{579A9AC6-11A2-3A6D-3BC5-DAAEE54A8283}"/>
          </ac:spMkLst>
        </pc:spChg>
      </pc:sldChg>
      <pc:sldChg chg="modSp mod">
        <pc:chgData name="Yamini Jasthi" userId="aacf334f76787862" providerId="LiveId" clId="{9ECD17DD-078B-4397-805E-BC9139E261A8}" dt="2026-04-25T04:37:56.101" v="420" actId="2711"/>
        <pc:sldMkLst>
          <pc:docMk/>
          <pc:sldMk cId="4288758445" sldId="258"/>
        </pc:sldMkLst>
        <pc:spChg chg="mod">
          <ac:chgData name="Yamini Jasthi" userId="aacf334f76787862" providerId="LiveId" clId="{9ECD17DD-078B-4397-805E-BC9139E261A8}" dt="2026-04-25T04:37:56.101" v="420" actId="2711"/>
          <ac:spMkLst>
            <pc:docMk/>
            <pc:sldMk cId="4288758445" sldId="258"/>
            <ac:spMk id="3" creationId="{8903D5AA-F1BA-5D5D-F962-65D6096AB22E}"/>
          </ac:spMkLst>
        </pc:spChg>
      </pc:sldChg>
      <pc:sldChg chg="modSp mod">
        <pc:chgData name="Yamini Jasthi" userId="aacf334f76787862" providerId="LiveId" clId="{9ECD17DD-078B-4397-805E-BC9139E261A8}" dt="2026-04-25T04:34:39.627" v="396" actId="27636"/>
        <pc:sldMkLst>
          <pc:docMk/>
          <pc:sldMk cId="2317417242" sldId="263"/>
        </pc:sldMkLst>
        <pc:spChg chg="mod">
          <ac:chgData name="Yamini Jasthi" userId="aacf334f76787862" providerId="LiveId" clId="{9ECD17DD-078B-4397-805E-BC9139E261A8}" dt="2026-04-25T04:34:39.627" v="396" actId="27636"/>
          <ac:spMkLst>
            <pc:docMk/>
            <pc:sldMk cId="2317417242" sldId="263"/>
            <ac:spMk id="2" creationId="{616C7919-EF02-3B33-B687-F1C78C10B043}"/>
          </ac:spMkLst>
        </pc:spChg>
      </pc:sldChg>
      <pc:sldChg chg="modSp mod">
        <pc:chgData name="Yamini Jasthi" userId="aacf334f76787862" providerId="LiveId" clId="{9ECD17DD-078B-4397-805E-BC9139E261A8}" dt="2026-04-25T04:37:42.581" v="419" actId="2711"/>
        <pc:sldMkLst>
          <pc:docMk/>
          <pc:sldMk cId="2060245690" sldId="265"/>
        </pc:sldMkLst>
        <pc:spChg chg="mod">
          <ac:chgData name="Yamini Jasthi" userId="aacf334f76787862" providerId="LiveId" clId="{9ECD17DD-078B-4397-805E-BC9139E261A8}" dt="2026-04-25T04:37:42.581" v="419" actId="2711"/>
          <ac:spMkLst>
            <pc:docMk/>
            <pc:sldMk cId="2060245690" sldId="265"/>
            <ac:spMk id="3" creationId="{81023B9F-DB74-1D8C-6581-5950D00B75A8}"/>
          </ac:spMkLst>
        </pc:spChg>
      </pc:sldChg>
      <pc:sldChg chg="addSp delSp modSp new mod">
        <pc:chgData name="Yamini Jasthi" userId="aacf334f76787862" providerId="LiveId" clId="{9ECD17DD-078B-4397-805E-BC9139E261A8}" dt="2026-04-25T04:38:41.580" v="423" actId="14100"/>
        <pc:sldMkLst>
          <pc:docMk/>
          <pc:sldMk cId="2077453135" sldId="273"/>
        </pc:sldMkLst>
        <pc:spChg chg="mod">
          <ac:chgData name="Yamini Jasthi" userId="aacf334f76787862" providerId="LiveId" clId="{9ECD17DD-078B-4397-805E-BC9139E261A8}" dt="2026-04-25T03:24:46.857" v="199" actId="14100"/>
          <ac:spMkLst>
            <pc:docMk/>
            <pc:sldMk cId="2077453135" sldId="273"/>
            <ac:spMk id="2" creationId="{9EA21429-9997-A546-6FB9-0F53CB91F9EB}"/>
          </ac:spMkLst>
        </pc:spChg>
        <pc:spChg chg="del mod">
          <ac:chgData name="Yamini Jasthi" userId="aacf334f76787862" providerId="LiveId" clId="{9ECD17DD-078B-4397-805E-BC9139E261A8}" dt="2026-04-25T03:21:01.075" v="143" actId="22"/>
          <ac:spMkLst>
            <pc:docMk/>
            <pc:sldMk cId="2077453135" sldId="273"/>
            <ac:spMk id="3" creationId="{7421CB26-48F3-AA2B-A2A9-550B6C880E21}"/>
          </ac:spMkLst>
        </pc:spChg>
        <pc:spChg chg="add mod">
          <ac:chgData name="Yamini Jasthi" userId="aacf334f76787862" providerId="LiveId" clId="{9ECD17DD-078B-4397-805E-BC9139E261A8}" dt="2026-04-25T04:38:41.580" v="423" actId="14100"/>
          <ac:spMkLst>
            <pc:docMk/>
            <pc:sldMk cId="2077453135" sldId="273"/>
            <ac:spMk id="7" creationId="{5CE78A24-2696-8B92-7299-02E88F855140}"/>
          </ac:spMkLst>
        </pc:spChg>
        <pc:picChg chg="add mod ord">
          <ac:chgData name="Yamini Jasthi" userId="aacf334f76787862" providerId="LiveId" clId="{9ECD17DD-078B-4397-805E-BC9139E261A8}" dt="2026-04-25T03:25:02.592" v="201" actId="1076"/>
          <ac:picMkLst>
            <pc:docMk/>
            <pc:sldMk cId="2077453135" sldId="273"/>
            <ac:picMk id="5" creationId="{B94259CC-439C-1127-0893-03CE3EDCCFDE}"/>
          </ac:picMkLst>
        </pc:picChg>
      </pc:sldChg>
      <pc:sldChg chg="addSp delSp modSp new mod">
        <pc:chgData name="Yamini Jasthi" userId="aacf334f76787862" providerId="LiveId" clId="{9ECD17DD-078B-4397-805E-BC9139E261A8}" dt="2026-04-25T03:20:23.978" v="138" actId="27636"/>
        <pc:sldMkLst>
          <pc:docMk/>
          <pc:sldMk cId="1636862852" sldId="274"/>
        </pc:sldMkLst>
        <pc:spChg chg="mod">
          <ac:chgData name="Yamini Jasthi" userId="aacf334f76787862" providerId="LiveId" clId="{9ECD17DD-078B-4397-805E-BC9139E261A8}" dt="2026-04-25T03:16:36.683" v="113" actId="14100"/>
          <ac:spMkLst>
            <pc:docMk/>
            <pc:sldMk cId="1636862852" sldId="274"/>
            <ac:spMk id="2" creationId="{9A23D58A-4F78-3EF3-3A67-9B0E96817787}"/>
          </ac:spMkLst>
        </pc:spChg>
        <pc:spChg chg="add del mod">
          <ac:chgData name="Yamini Jasthi" userId="aacf334f76787862" providerId="LiveId" clId="{9ECD17DD-078B-4397-805E-BC9139E261A8}" dt="2026-04-25T03:20:23.978" v="138" actId="27636"/>
          <ac:spMkLst>
            <pc:docMk/>
            <pc:sldMk cId="1636862852" sldId="274"/>
            <ac:spMk id="3" creationId="{C1D44FBF-2347-4C2B-EAE4-B4ECADA41707}"/>
          </ac:spMkLst>
        </pc:spChg>
        <pc:spChg chg="add mod">
          <ac:chgData name="Yamini Jasthi" userId="aacf334f76787862" providerId="LiveId" clId="{9ECD17DD-078B-4397-805E-BC9139E261A8}" dt="2026-04-25T03:19:59.838" v="132"/>
          <ac:spMkLst>
            <pc:docMk/>
            <pc:sldMk cId="1636862852" sldId="274"/>
            <ac:spMk id="4" creationId="{95FD357C-CE18-222F-A5EF-4096FBC3075E}"/>
          </ac:spMkLst>
        </pc:spChg>
        <pc:spChg chg="add mod">
          <ac:chgData name="Yamini Jasthi" userId="aacf334f76787862" providerId="LiveId" clId="{9ECD17DD-078B-4397-805E-BC9139E261A8}" dt="2026-04-25T03:20:02.303" v="134"/>
          <ac:spMkLst>
            <pc:docMk/>
            <pc:sldMk cId="1636862852" sldId="274"/>
            <ac:spMk id="5" creationId="{47EF5AA7-8006-F9F4-0A7D-84E1E19A5C93}"/>
          </ac:spMkLst>
        </pc:spChg>
      </pc:sldChg>
      <pc:sldChg chg="modSp new mod">
        <pc:chgData name="Yamini Jasthi" userId="aacf334f76787862" providerId="LiveId" clId="{9ECD17DD-078B-4397-805E-BC9139E261A8}" dt="2026-04-25T04:38:53.984" v="424" actId="2711"/>
        <pc:sldMkLst>
          <pc:docMk/>
          <pc:sldMk cId="3040361464" sldId="275"/>
        </pc:sldMkLst>
        <pc:spChg chg="mod">
          <ac:chgData name="Yamini Jasthi" userId="aacf334f76787862" providerId="LiveId" clId="{9ECD17DD-078B-4397-805E-BC9139E261A8}" dt="2026-04-25T03:16:18.389" v="73" actId="20577"/>
          <ac:spMkLst>
            <pc:docMk/>
            <pc:sldMk cId="3040361464" sldId="275"/>
            <ac:spMk id="2" creationId="{E1596865-0F67-ABDE-A864-8916689F79C8}"/>
          </ac:spMkLst>
        </pc:spChg>
        <pc:spChg chg="mod">
          <ac:chgData name="Yamini Jasthi" userId="aacf334f76787862" providerId="LiveId" clId="{9ECD17DD-078B-4397-805E-BC9139E261A8}" dt="2026-04-25T04:38:53.984" v="424" actId="2711"/>
          <ac:spMkLst>
            <pc:docMk/>
            <pc:sldMk cId="3040361464" sldId="275"/>
            <ac:spMk id="3" creationId="{2F7B20B0-F0EE-7FFC-162F-862CE303FA40}"/>
          </ac:spMkLst>
        </pc:spChg>
      </pc:sldChg>
      <pc:sldChg chg="addSp delSp modSp new mod">
        <pc:chgData name="Yamini Jasthi" userId="aacf334f76787862" providerId="LiveId" clId="{9ECD17DD-078B-4397-805E-BC9139E261A8}" dt="2026-04-25T04:04:01.156" v="392" actId="1076"/>
        <pc:sldMkLst>
          <pc:docMk/>
          <pc:sldMk cId="1371297112" sldId="276"/>
        </pc:sldMkLst>
        <pc:spChg chg="mod">
          <ac:chgData name="Yamini Jasthi" userId="aacf334f76787862" providerId="LiveId" clId="{9ECD17DD-078B-4397-805E-BC9139E261A8}" dt="2026-04-25T04:00:34.180" v="366" actId="20577"/>
          <ac:spMkLst>
            <pc:docMk/>
            <pc:sldMk cId="1371297112" sldId="276"/>
            <ac:spMk id="2" creationId="{D21ECF3E-35D5-EC1B-F81F-F9936E084F82}"/>
          </ac:spMkLst>
        </pc:spChg>
        <pc:spChg chg="del mod">
          <ac:chgData name="Yamini Jasthi" userId="aacf334f76787862" providerId="LiveId" clId="{9ECD17DD-078B-4397-805E-BC9139E261A8}" dt="2026-04-25T03:59:59.414" v="337"/>
          <ac:spMkLst>
            <pc:docMk/>
            <pc:sldMk cId="1371297112" sldId="276"/>
            <ac:spMk id="3" creationId="{F63E7AB7-4E0E-9034-DAFC-F14DDA953CC6}"/>
          </ac:spMkLst>
        </pc:spChg>
        <pc:spChg chg="add mod">
          <ac:chgData name="Yamini Jasthi" userId="aacf334f76787862" providerId="LiveId" clId="{9ECD17DD-078B-4397-805E-BC9139E261A8}" dt="2026-04-25T04:01:14.486" v="370" actId="1076"/>
          <ac:spMkLst>
            <pc:docMk/>
            <pc:sldMk cId="1371297112" sldId="276"/>
            <ac:spMk id="6" creationId="{D55B269D-C036-9632-97FF-61FCF5C2A887}"/>
          </ac:spMkLst>
        </pc:spChg>
        <pc:spChg chg="add mod">
          <ac:chgData name="Yamini Jasthi" userId="aacf334f76787862" providerId="LiveId" clId="{9ECD17DD-078B-4397-805E-BC9139E261A8}" dt="2026-04-25T04:02:05.552" v="385" actId="20577"/>
          <ac:spMkLst>
            <pc:docMk/>
            <pc:sldMk cId="1371297112" sldId="276"/>
            <ac:spMk id="9" creationId="{0A77EE5E-ADD1-761F-04EC-1BFEF55C1FEE}"/>
          </ac:spMkLst>
        </pc:spChg>
        <pc:spChg chg="add mod">
          <ac:chgData name="Yamini Jasthi" userId="aacf334f76787862" providerId="LiveId" clId="{9ECD17DD-078B-4397-805E-BC9139E261A8}" dt="2026-04-25T04:04:01.156" v="392" actId="1076"/>
          <ac:spMkLst>
            <pc:docMk/>
            <pc:sldMk cId="1371297112" sldId="276"/>
            <ac:spMk id="12" creationId="{16ADD9C3-8F35-DE40-DE91-9E56460443A1}"/>
          </ac:spMkLst>
        </pc:spChg>
        <pc:picChg chg="add mod">
          <ac:chgData name="Yamini Jasthi" userId="aacf334f76787862" providerId="LiveId" clId="{9ECD17DD-078B-4397-805E-BC9139E261A8}" dt="2026-04-25T04:00:36.408" v="367" actId="1076"/>
          <ac:picMkLst>
            <pc:docMk/>
            <pc:sldMk cId="1371297112" sldId="276"/>
            <ac:picMk id="4" creationId="{71248318-7B4D-2200-9C76-A4080AD711BA}"/>
          </ac:picMkLst>
        </pc:picChg>
        <pc:picChg chg="add mod">
          <ac:chgData name="Yamini Jasthi" userId="aacf334f76787862" providerId="LiveId" clId="{9ECD17DD-078B-4397-805E-BC9139E261A8}" dt="2026-04-25T04:01:42.799" v="378" actId="14100"/>
          <ac:picMkLst>
            <pc:docMk/>
            <pc:sldMk cId="1371297112" sldId="276"/>
            <ac:picMk id="7" creationId="{8C4E4A81-3032-12AD-B188-2B478129E489}"/>
          </ac:picMkLst>
        </pc:picChg>
        <pc:picChg chg="add mod">
          <ac:chgData name="Yamini Jasthi" userId="aacf334f76787862" providerId="LiveId" clId="{9ECD17DD-078B-4397-805E-BC9139E261A8}" dt="2026-04-25T04:03:14.639" v="390" actId="14100"/>
          <ac:picMkLst>
            <pc:docMk/>
            <pc:sldMk cId="1371297112" sldId="276"/>
            <ac:picMk id="10" creationId="{D1C7934D-45FE-E52E-5454-BFFA715240BF}"/>
          </ac:picMkLst>
        </pc:picChg>
      </pc:sldChg>
      <pc:sldChg chg="new del">
        <pc:chgData name="Yamini Jasthi" userId="aacf334f76787862" providerId="LiveId" clId="{9ECD17DD-078B-4397-805E-BC9139E261A8}" dt="2026-04-25T04:07:22.502" v="394" actId="680"/>
        <pc:sldMkLst>
          <pc:docMk/>
          <pc:sldMk cId="1393518701" sldId="277"/>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01:52:11.181"/>
    </inkml:context>
    <inkml:brush xml:id="br0">
      <inkml:brushProperty name="width" value="0.1" units="cm"/>
      <inkml:brushProperty name="height" value="0.1" units="cm"/>
      <inkml:brushProperty name="color" value="#FFFFFF"/>
    </inkml:brush>
  </inkml:definitions>
  <inkml:trace contextRef="#ctx0" brushRef="#br0">3039 506 6553,'0'-5'0,"-1"0"0,0-1 0,0 1 0,0 0 0,-1 0 0,1 0 0,-5-7 0,-1-5 0,-136-315 0,135 314 0,-23-64 21,28 74-2,4 99 1383,1 35-200,-2-126-1166,0-6-10,0 0-1,0 0 1,0 0-1,-1 0 0,0 1 1,0-1-1,-1 0 0,1 0 1,-4-5-1,5 11-19,0-1 1,0 1-1,0 0 0,0 0 1,0 0-1,0 0 0,0 0 1,0-1-1,-1 1 1,1 0-1,0 0 0,0 0 1,0 0-1,0 0 0,0 0 1,0 0-1,-1 0 0,1 0 1,0 0-1,0-1 0,0 1 1,0 0-1,-1 0 0,1 0 1,0 0-1,0 0 0,0 0 1,0 0-1,0 0 0,-1 0 1,1 0-1,0 0 1,0 0-1,0 0 0,0 1 1,0-1-1,-1 0 0,1 0 1,0 0-1,0 0 0,0 0 1,0 0-1,-4 8 198,0 11 101,2 14 136,2 38 0,2-46-176,-2-1-1,-1 1 0,-6 37 0,6-59-230,0 1 0,0-1 0,0 1 0,0-1 0,-1 0 0,1 0 0,-1 1 0,0-1 0,0 0 0,0-1 0,0 1 0,-1 0 0,1 0 0,-1-1 0,0 0 0,1 1 0,-1-1 0,0 0 0,0 0 0,-1-1 0,1 1 0,0-1 0,0 1 0,-1-1 0,-6 1-1,-5 0 226,0 0-1,0-1 0,0-1 0,-29-2 0,34 1-136,-230-27 2217,43 4-771,115 17-879,-61-7 611,-151 5 1,297 8-1134,15 1 185,0-2 0,27-5 0,-8 0-82,1 2 0,0 1 0,66 2 0,49-5 301,-60-3-571,115 4 0,-737 7 0,703 1 0,197-5 0,-149-22 0,-144 13 0,125-3 0,215 16 0,-1020-1 0,571 2 0,1 2 0,-1 1 0,-54 15 0,9-1 0,-239 34 0,148-28 0,41-5 0,68-15 0,-72-4 0,113-1 0,-6 4 0,19 0 0,14 3 0,1-4 0,1 0 0,0-1 0,0 0 0,0-1 0,16 1 0,-12-2 0,0 1 0,25 5 0,2 2 0,0-3 0,0-1 0,0-2 0,52-5 0,-7 1 0,295 2 0,-2085 0 0,1683 3 0,19-3 0,0 0 0,0 0 0,-1 0 0,1 0 0,0 0 0,0 0 0,0 0 0,0 0 0,0 0 0,-1 0 0,1 0 0,0 1 0,0-1 0,0 0 0,0 0 0,0 0 0,0 0 0,-1 0 0,1 0 0,0 1 0,0-1 0,0 0 0,0 0 0,0 0 0,0 0 0,0 0 0,0 1 0,0-1 0,0 0 0,0 0 0,0 0 0,0 0 0,0 1 0,0-1 0,0 0 0,0 0 0,0 0 0,0 0 0,0 1 0,0-1 0,0 0 0,0 0 0,0 0 0,0 1 0,2 0 0,-1 0 0,1 0 0,0 0 0,-1 0 0,1 0 0,0 0 0,0 0 0,0 0 0,0 0 0,0-1 0,0 1 0,3-1 0,40 6 0,-1-3 0,88-4 0,-48-1 0,-39 3 0,0-2 0,0-3 0,64-12 0,60-18 0,174-13 0,-254 36 0,-37 3 0,74 0 0,549 9 0,-744-2 0,-84 3 0,148-1 0,0-1 0,-1 1 0,1 0 0,0 1 0,0-1 0,0 1 0,0 0 0,0 0 0,0 1 0,0 0 0,1-1 0,-5 5 0,-1 2 0,0 1 0,0 0 0,-10 15 0,11-14 0,6-7 0,-1 0 0,0-1 0,-1 0 0,1 1 0,-1-2 0,1 1 0,-1 0 0,0-1 0,0 0 0,0 0 0,0 0 0,0-1 0,-1 0 0,1 0 0,0 0 0,-8 0 0,-12 0 0,0-1 0,-31-4 0,32 2 0,-981-24 0,990 27 0,1 1 0,-1 0 0,-21 6 0,20-4 0,-1 0 0,-18 1 0,-4-1 0,-39 10 0,44-7 0,-13 4 0,30-7 0,0 0 0,-31 3 0,-100-8 0,-33 2 0,120 11 0,45-7 0,1-2 0,-21 2 0,6-4 0,14 0 0,0 0 0,0 0 0,-22 6 0,2 0 0,0-1 0,0-2 0,0-2 0,-61-4 0,33 0 0,162 3 0,353 8 0,437 6 0,-837-15 0,-108-15 0,-26 7 0,-160 4 0,140 6 0,-625-2 0,1512-8-364,-6-45 8,-716 46 374,70-18 0,-117 20-8,-15 5-10,0 0 0,0 0 1,0 0-1,0 0 0,0 0 1,0 0-1,0 0 0,0 0 1,0 0-1,0-1 0,0 1 0,0 0 1,0 0-1,0 0 0,0 0 1,0 0-1,0 0 0,0 0 1,0 0-1,0 0 0,0 0 0,0-1 1,0 1-1,0 0 0,0 0 1,0 0-1,0 0 0,0 0 1,0 0-1,0 0 0,0 0 0,0 0 1,0 0-1,0 0 0,0-1 1,0 1-1,0 0 0,0 0 1,0 0-1,0 0 0,0 0 1,-1 0-1,1 0 0,0 0 0,0 0 1,0 0-1,0 0 0,0 0 1,0 0-1,0 0 0,0 0 1,0 0-1,0 0 0,0 0 0,-1 0 1,1 0-1,0 0 0,0 0 1,0 0-1,0 0 0,0 0 1,0 0-1,0 0 0,-27-3 31,-402 3 174,199 2-146,222-2-57,-24 0 11,1 0 0,-1 2 0,-59 12 1,91-14-14,0 0 0,-1 0 1,1 0-1,0 0 1,0 0-1,-1 0 1,1 0-1,0 0 0,-1 0 1,1 0-1,0 0 1,0 0-1,-1 0 1,1 0-1,0 0 0,0 0 1,0 0-1,-1 1 1,1-1-1,0 0 1,0 0-1,-1 0 0,1 0 1,0 1-1,0-1 1,0 0-1,0 0 1,-1 0-1,1 1 0,0-1 1,0 0-1,0 0 1,0 0-1,0 1 1,0-1-1,0 0 0,-1 1 1,12 2 10,19 0 2,244-3 91,-125-1-46,-143 1-56,0 0-1,0 0 0,0-1 1,1 0-1,-1 0 0,0-1 1,8-3-1,-11 4-29,0 0-1,0-1 1,0 0-1,-1 0 1,1 0 0,-1 0-1,1 0 1,-1 0-1,0-1 1,0 1-1,0-1 1,0 0-1,0 1 1,0-1-1,1-4 1,7-10-175,-9 16 202,-1 1 0,0 0 0,1-1 0,-1 1 0,0 0 0,1 0 0,-1-1-1,0 1 1,1 0 0,-1 0 0,0 0 0,1-1 0,-1 1 0,1 0 0,-1 0-1,0 0 1,1 0 0,-1 0 0,1 0 0,-1 0 0,0 0 0,1 0-1,0 0 1,1 1 5,0 1 0,0-1 0,0 1 0,0 0 0,0-1 0,-1 1 0,1 0 0,-1 0 0,1 0 0,-1 0 0,2 3 0,122 166 94,-93-133-73,1-2-1,51 43 0,-84-79-25,0 1 1,1-1-1,-1 1 1,1-1-1,-1 1 0,1-1 1,0 0-1,-1 1 0,1-1 1,-1 0-1,1 1 0,0-1 1,-1 0-1,1 0 0,0 1 1,-1-1-1,1 0 0,0 0 1,-1 0-1,1 0 0,0 0 1,0 0-1,1 0 1,-2-1-12,1 1 1,-1-1 0,0 1-1,1-1 1,-1 1 0,1-1 0,-1 1-1,0-1 1,1 0 0,-1 1 0,0-1-1,0 1 1,1-1 0,-1 0 0,0 1-1,0-1 1,0 0 0,0 1 0,0-2-1,-4-36-545,-19-48-915,-36-88-1,28 90 957,27 70 444,-3-7-205,-19-38 0,24 59 382,1 7-51,0 9 8,3 31 144,3 1 1,14 65-1,-8-70-57,-6-29-76,-2 1 0,3 18 0,7 51 212,-7-53-118,3 54 0,-10-39-32,1 26 69,1-66-176,0 1-1,0-1 1,0 0 0,1 0-1,0 0 1,0 0 0,0 0-1,6 10 1,0-3 85,-1 1 0,0-1 0,-2 1 0,9 27 0,6 60 379,-10-46-310,-9-51-167,61 286 808,-41-210-509,50 123 0,-40-124-88,-31-80-229,0 1 0,0 0 1,0 0-1,0 0 0,0 0 0,0 0 0,0 0 1,0 0-1,0 0 0,0 0 0,0 0 0,1 0 1,-1 0-1,0 0 0,0 0 0,0-1 1,0 1-1,0 0 0,0 0 0,0 0 0,0 0 1,0 0-1,0 0 0,0 0 0,0 0 1,0 0-1,0 0 0,0 0 0,0 0 0,0 0 1,0 0-1,0 0 0,1 0 0,-1 0 1,0 0-1,0 0 0,0 0 0,0 0 0,0 0 1,0 0-1,0 0 0,0 0 0,0 0 1,0 0-1,0 0 0,0 0 0,0 0 0,0 0 1,1 0-1,-1 0 0,0 0 0,0 0 1,0 0-1,0 0 0,0 0 0,0 0 0,0 0 1,0 0-1,0 0 0,2-11-175,-1-17-124,-2 16 147,0-1 0,-1 1 0,0-1-1,-1 1 1,0-1 0,-1 1-1,-8-18 1,1 10-174,1 1 1,-2 1-1,-22-28 0,-2-6-465,28 40 572,0-1 1,0 1-1,-1 0 0,-18-16 1,-94-97-1700,51 49 918,48 55 778,-2 1 1,-41-27 0,35 28 50,-38-36 1,51 42 309,-1-1 1,0 2-1,-1 0 0,0 2 1,-1 0-1,0 1 0,-23-7 1,18 8-35,3 3-82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01:53:03.782"/>
    </inkml:context>
    <inkml:brush xml:id="br0">
      <inkml:brushProperty name="width" value="0.35" units="cm"/>
      <inkml:brushProperty name="height" value="0.35" units="cm"/>
      <inkml:brushProperty name="color" value="#FFFFFF"/>
    </inkml:brush>
  </inkml:definitions>
  <inkml:trace contextRef="#ctx0" brushRef="#br0">1 1 4915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01:53:06.939"/>
    </inkml:context>
    <inkml:brush xml:id="br0">
      <inkml:brushProperty name="width" value="0.35" units="cm"/>
      <inkml:brushProperty name="height" value="0.35" units="cm"/>
      <inkml:brushProperty name="color" value="#FFFFFF"/>
    </inkml:brush>
  </inkml:definitions>
  <inkml:trace contextRef="#ctx0" brushRef="#br0">1 1 4915,'0'0'0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01:53:11.468"/>
    </inkml:context>
    <inkml:brush xml:id="br0">
      <inkml:brushProperty name="width" value="0.35" units="cm"/>
      <inkml:brushProperty name="height" value="0.35" units="cm"/>
      <inkml:brushProperty name="color" value="#FFFFFF"/>
    </inkml:brush>
  </inkml:definitions>
  <inkml:trace contextRef="#ctx0" brushRef="#br0">0 1 4915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1T01:53:16.608"/>
    </inkml:context>
    <inkml:brush xml:id="br0">
      <inkml:brushProperty name="width" value="0.35" units="cm"/>
      <inkml:brushProperty name="height" value="0.35" units="cm"/>
      <inkml:brushProperty name="color" value="#FFFFFF"/>
    </inkml:brush>
  </inkml:definitions>
  <inkml:trace contextRef="#ctx0" brushRef="#br0">0 1 4915,'0'0'0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A54D-7881-9DAE-19C2-FFFD66AC91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6224C1-4640-5F7C-0CBE-F7C322D98F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181D83-4BCA-CB64-057A-3D501D5A99CD}"/>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5" name="Footer Placeholder 4">
            <a:extLst>
              <a:ext uri="{FF2B5EF4-FFF2-40B4-BE49-F238E27FC236}">
                <a16:creationId xmlns:a16="http://schemas.microsoft.com/office/drawing/2014/main" id="{695AB09B-691E-043D-7144-0EBECAE994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22A1B6-9573-7AC0-088C-78B895DEEF87}"/>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3415639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9E55E-A7B4-8FD7-90FF-C280A844C7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FBC3F4-12B7-89EA-F7E2-9A457A7763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CAD750-5346-C0C7-5C81-0AC2C8294418}"/>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5" name="Footer Placeholder 4">
            <a:extLst>
              <a:ext uri="{FF2B5EF4-FFF2-40B4-BE49-F238E27FC236}">
                <a16:creationId xmlns:a16="http://schemas.microsoft.com/office/drawing/2014/main" id="{27C0CB86-5F7E-76C7-D13F-3C6DDAF64C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847F9C-3354-C9F9-6136-9131B8167744}"/>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1269925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FDCF8-D9AF-2901-B34D-116CE02F9D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FD298D-033A-8260-0370-503FFC27B2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970459-322E-4A8D-C17A-DD99069BC079}"/>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5" name="Footer Placeholder 4">
            <a:extLst>
              <a:ext uri="{FF2B5EF4-FFF2-40B4-BE49-F238E27FC236}">
                <a16:creationId xmlns:a16="http://schemas.microsoft.com/office/drawing/2014/main" id="{BF2098D7-BC4E-D9DE-610C-C15AFB7685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C13471-1A40-064C-A060-7BD2B22E29B8}"/>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396137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E1064-FF49-087D-0855-C97AE1DED9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D6F4D3-C087-026C-8BE7-886DD453F3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68092C-71AB-7724-6C9F-75CBFD8737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42AC60-D0BE-24C4-2C32-6EC81AAE3FE8}"/>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6" name="Footer Placeholder 5">
            <a:extLst>
              <a:ext uri="{FF2B5EF4-FFF2-40B4-BE49-F238E27FC236}">
                <a16:creationId xmlns:a16="http://schemas.microsoft.com/office/drawing/2014/main" id="{DE885D4F-2CF9-516D-3A4C-64CDB5DB20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F2739C-9878-C34A-F732-789409B308DA}"/>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1467868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645B9-662B-F7DD-DC41-387ADB9EFD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2517AF-3F29-EFA7-8EA8-2878D8458C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EEEB6E-C941-94A6-9797-E38BF850D3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74CD92-F62E-3132-2122-FD50DC1B47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30DEA4-1DBD-9118-3FC3-101401F34B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4A6F7E-DD8C-2831-FDFD-F8571C84F565}"/>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8" name="Footer Placeholder 7">
            <a:extLst>
              <a:ext uri="{FF2B5EF4-FFF2-40B4-BE49-F238E27FC236}">
                <a16:creationId xmlns:a16="http://schemas.microsoft.com/office/drawing/2014/main" id="{5A2F56FC-EB5A-83A8-0175-D58032CCE9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2D2B88-45C0-7B6D-FEF8-52DA3FB82654}"/>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3318208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C9895-520D-9B58-1117-BCC10E6CBE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CD250FC-1E83-B1B6-268D-83F1E90D5B64}"/>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4" name="Footer Placeholder 3">
            <a:extLst>
              <a:ext uri="{FF2B5EF4-FFF2-40B4-BE49-F238E27FC236}">
                <a16:creationId xmlns:a16="http://schemas.microsoft.com/office/drawing/2014/main" id="{54F51BBD-A158-0F2C-CF8F-9150A7E176A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4F2C585-9EA0-44FC-7FA8-D9B432519DA8}"/>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2104530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D3B497-C431-42C4-AFD3-E464669960C7}"/>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3" name="Footer Placeholder 2">
            <a:extLst>
              <a:ext uri="{FF2B5EF4-FFF2-40B4-BE49-F238E27FC236}">
                <a16:creationId xmlns:a16="http://schemas.microsoft.com/office/drawing/2014/main" id="{C6BAF52C-98BF-E341-ED3C-CC0C8E145E2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DAFE2E-338D-F888-6B94-4538FC8D59EB}"/>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3851675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E57D9-97B7-4084-9D58-5063EF8DBD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A1AF36-101C-D2C4-1C19-49990794A8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262E5A-CCA7-A0F2-6417-6F8B8C8CC4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96DD9B-E8AF-2026-23D4-4D4F58B08070}"/>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6" name="Footer Placeholder 5">
            <a:extLst>
              <a:ext uri="{FF2B5EF4-FFF2-40B4-BE49-F238E27FC236}">
                <a16:creationId xmlns:a16="http://schemas.microsoft.com/office/drawing/2014/main" id="{76514B2E-50FC-F67C-E962-3AE6E027B0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6AD139-81F9-90D6-89BF-29C75188E5C0}"/>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4093942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657C8-6C26-A4C1-012D-185FECB052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580AEC-6AEB-D256-58AE-B9CDBDB39A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356937-BAEE-C6A6-6A41-3650EA821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99D0A5-0D75-6428-3168-87143580C504}"/>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6" name="Footer Placeholder 5">
            <a:extLst>
              <a:ext uri="{FF2B5EF4-FFF2-40B4-BE49-F238E27FC236}">
                <a16:creationId xmlns:a16="http://schemas.microsoft.com/office/drawing/2014/main" id="{5B586B92-94D6-5B88-BD3C-A55800872F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2E7835-4BE7-41D0-E477-6F0F8C5FA6E5}"/>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16202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E3209-6D60-8F37-BAF3-0C3A89C1BF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BA0031-B2D8-AEEB-DE96-25130C9C06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9DCBB-1C38-F330-F17D-304EA5021A86}"/>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5" name="Footer Placeholder 4">
            <a:extLst>
              <a:ext uri="{FF2B5EF4-FFF2-40B4-BE49-F238E27FC236}">
                <a16:creationId xmlns:a16="http://schemas.microsoft.com/office/drawing/2014/main" id="{A385FCAC-DE3F-BD5E-02F9-622A2B1B24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B10898-4EAB-21BB-AE7C-1BCDAA897B56}"/>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2587315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C0324B-A235-0ECF-2F1A-EA3461F3BA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A9A335-1114-0892-EDDF-3021DD4259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EE2376-E2E9-50C1-273F-FA9D74346691}"/>
              </a:ext>
            </a:extLst>
          </p:cNvPr>
          <p:cNvSpPr>
            <a:spLocks noGrp="1"/>
          </p:cNvSpPr>
          <p:nvPr>
            <p:ph type="dt" sz="half" idx="10"/>
          </p:nvPr>
        </p:nvSpPr>
        <p:spPr/>
        <p:txBody>
          <a:bodyPr/>
          <a:lstStyle/>
          <a:p>
            <a:fld id="{FD1B0684-B36F-4879-9104-A7054F97E3FB}" type="datetimeFigureOut">
              <a:rPr lang="en-IN" smtClean="0"/>
              <a:t>25-04-2026</a:t>
            </a:fld>
            <a:endParaRPr lang="en-IN"/>
          </a:p>
        </p:txBody>
      </p:sp>
      <p:sp>
        <p:nvSpPr>
          <p:cNvPr id="5" name="Footer Placeholder 4">
            <a:extLst>
              <a:ext uri="{FF2B5EF4-FFF2-40B4-BE49-F238E27FC236}">
                <a16:creationId xmlns:a16="http://schemas.microsoft.com/office/drawing/2014/main" id="{7954C212-EC51-FA98-9DF6-10851BFBFF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74D887-043C-A530-3F70-3B3EDA9264E0}"/>
              </a:ext>
            </a:extLst>
          </p:cNvPr>
          <p:cNvSpPr>
            <a:spLocks noGrp="1"/>
          </p:cNvSpPr>
          <p:nvPr>
            <p:ph type="sldNum" sz="quarter" idx="12"/>
          </p:nvPr>
        </p:nvSpPr>
        <p:spPr/>
        <p:txBody>
          <a:bodyPr/>
          <a:lstStyle/>
          <a:p>
            <a:fld id="{6B684C7A-7040-4EB0-986A-D29C97D7DACC}" type="slidenum">
              <a:rPr lang="en-IN" smtClean="0"/>
              <a:t>‹#›</a:t>
            </a:fld>
            <a:endParaRPr lang="en-IN"/>
          </a:p>
        </p:txBody>
      </p:sp>
    </p:spTree>
    <p:extLst>
      <p:ext uri="{BB962C8B-B14F-4D97-AF65-F5344CB8AC3E}">
        <p14:creationId xmlns:p14="http://schemas.microsoft.com/office/powerpoint/2010/main" val="2445955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7C019-AD4A-1A61-DD4A-61D33A32BB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36604B-353C-0142-A4DB-076F8D9DFD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39AA89-3B5F-B4EF-7E85-B7B817E3A9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1B0684-B36F-4879-9104-A7054F97E3FB}" type="datetimeFigureOut">
              <a:rPr lang="en-IN" smtClean="0"/>
              <a:t>25-04-2026</a:t>
            </a:fld>
            <a:endParaRPr lang="en-IN"/>
          </a:p>
        </p:txBody>
      </p:sp>
      <p:sp>
        <p:nvSpPr>
          <p:cNvPr id="5" name="Footer Placeholder 4">
            <a:extLst>
              <a:ext uri="{FF2B5EF4-FFF2-40B4-BE49-F238E27FC236}">
                <a16:creationId xmlns:a16="http://schemas.microsoft.com/office/drawing/2014/main" id="{A46326DB-D627-AD43-3C87-F9A0732CD6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B8B837-1C7E-F3F6-1F42-D0F1F485C7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684C7A-7040-4EB0-986A-D29C97D7DACC}" type="slidenum">
              <a:rPr lang="en-IN" smtClean="0"/>
              <a:t>‹#›</a:t>
            </a:fld>
            <a:endParaRPr lang="en-IN"/>
          </a:p>
        </p:txBody>
      </p:sp>
    </p:spTree>
    <p:extLst>
      <p:ext uri="{BB962C8B-B14F-4D97-AF65-F5344CB8AC3E}">
        <p14:creationId xmlns:p14="http://schemas.microsoft.com/office/powerpoint/2010/main" val="12944410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4.xml"/><Relationship Id="rId7" Type="http://schemas.openxmlformats.org/officeDocument/2006/relationships/customXml" Target="../ink/ink3.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10" Type="http://schemas.openxmlformats.org/officeDocument/2006/relationships/image" Target="../media/image3.jpeg"/><Relationship Id="rId4" Type="http://schemas.openxmlformats.org/officeDocument/2006/relationships/image" Target="../media/image4.png"/><Relationship Id="rId9" Type="http://schemas.openxmlformats.org/officeDocument/2006/relationships/customXml" Target="../ink/ink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D5330-F262-0CCD-78DF-FEDE11900E5E}"/>
              </a:ext>
            </a:extLst>
          </p:cNvPr>
          <p:cNvSpPr>
            <a:spLocks noGrp="1"/>
          </p:cNvSpPr>
          <p:nvPr>
            <p:ph type="ctrTitle"/>
          </p:nvPr>
        </p:nvSpPr>
        <p:spPr>
          <a:xfrm>
            <a:off x="1472184" y="2286000"/>
            <a:ext cx="9195816" cy="731520"/>
          </a:xfrm>
        </p:spPr>
        <p:txBody>
          <a:bodyPr>
            <a:noAutofit/>
          </a:bodyPr>
          <a:lstStyle/>
          <a:p>
            <a:r>
              <a:rPr lang="en-IN" sz="2800" dirty="0">
                <a:latin typeface="Times New Roman" panose="02020603050405020304" pitchFamily="18" charset="0"/>
                <a:cs typeface="Times New Roman" panose="02020603050405020304" pitchFamily="18" charset="0"/>
              </a:rPr>
              <a:t>Smart Cam For Driver Fatigue and Depression Detection Through Enhanced Facial Behaviour Recognition</a:t>
            </a:r>
            <a:br>
              <a:rPr lang="en-IN" sz="3200" dirty="0">
                <a:latin typeface="Times New Roman" panose="02020603050405020304" pitchFamily="18" charset="0"/>
                <a:cs typeface="Times New Roman" panose="02020603050405020304" pitchFamily="18" charset="0"/>
              </a:rPr>
            </a:br>
            <a:endParaRPr lang="en-IN" sz="3200" dirty="0"/>
          </a:p>
        </p:txBody>
      </p:sp>
      <p:sp>
        <p:nvSpPr>
          <p:cNvPr id="3" name="Subtitle 2">
            <a:extLst>
              <a:ext uri="{FF2B5EF4-FFF2-40B4-BE49-F238E27FC236}">
                <a16:creationId xmlns:a16="http://schemas.microsoft.com/office/drawing/2014/main" id="{227ADCAD-F905-FDAC-B0B7-D3AA594169CD}"/>
              </a:ext>
            </a:extLst>
          </p:cNvPr>
          <p:cNvSpPr>
            <a:spLocks noGrp="1"/>
          </p:cNvSpPr>
          <p:nvPr>
            <p:ph type="subTitle" idx="1"/>
          </p:nvPr>
        </p:nvSpPr>
        <p:spPr>
          <a:xfrm>
            <a:off x="512064" y="3602038"/>
            <a:ext cx="4956048" cy="1655762"/>
          </a:xfrm>
        </p:spPr>
        <p:txBody>
          <a:bodyPr>
            <a:normAutofit fontScale="70000" lnSpcReduction="20000"/>
          </a:bodyPr>
          <a:lstStyle/>
          <a:p>
            <a:r>
              <a:rPr lang="en-IN" sz="2800" dirty="0">
                <a:latin typeface="Times New Roman" panose="02020603050405020304" pitchFamily="18" charset="0"/>
                <a:cs typeface="Times New Roman" panose="02020603050405020304" pitchFamily="18" charset="0"/>
              </a:rPr>
              <a:t>Batch number – 18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Jashti</a:t>
            </a:r>
            <a:r>
              <a:rPr lang="en-IN" dirty="0">
                <a:latin typeface="Times New Roman" panose="02020603050405020304" pitchFamily="18" charset="0"/>
                <a:cs typeface="Times New Roman" panose="02020603050405020304" pitchFamily="18" charset="0"/>
              </a:rPr>
              <a:t> Yamini                                      Y22CD054</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Nagabru</a:t>
            </a:r>
            <a:r>
              <a:rPr lang="en-IN" dirty="0">
                <a:latin typeface="Times New Roman" panose="02020603050405020304" pitchFamily="18" charset="0"/>
                <a:cs typeface="Times New Roman" panose="02020603050405020304" pitchFamily="18" charset="0"/>
              </a:rPr>
              <a:t> Mohana Pujitha                    L23CD201</a:t>
            </a:r>
          </a:p>
          <a:p>
            <a:r>
              <a:rPr lang="en-IN" dirty="0">
                <a:latin typeface="Times New Roman" panose="02020603050405020304" pitchFamily="18" charset="0"/>
                <a:cs typeface="Times New Roman" panose="02020603050405020304" pitchFamily="18" charset="0"/>
              </a:rPr>
              <a:t> Boddu </a:t>
            </a:r>
            <a:r>
              <a:rPr lang="en-IN" dirty="0" err="1">
                <a:latin typeface="Times New Roman" panose="02020603050405020304" pitchFamily="18" charset="0"/>
                <a:cs typeface="Times New Roman" panose="02020603050405020304" pitchFamily="18" charset="0"/>
              </a:rPr>
              <a:t>Treveni</a:t>
            </a:r>
            <a:r>
              <a:rPr lang="en-IN" dirty="0">
                <a:latin typeface="Times New Roman" panose="02020603050405020304" pitchFamily="18" charset="0"/>
                <a:cs typeface="Times New Roman" panose="02020603050405020304" pitchFamily="18" charset="0"/>
              </a:rPr>
              <a:t>                                    Y22CD017</a:t>
            </a:r>
          </a:p>
          <a:p>
            <a:endParaRPr lang="en-IN" dirty="0"/>
          </a:p>
        </p:txBody>
      </p:sp>
      <p:pic>
        <p:nvPicPr>
          <p:cNvPr id="4" name="Picture 3">
            <a:extLst>
              <a:ext uri="{FF2B5EF4-FFF2-40B4-BE49-F238E27FC236}">
                <a16:creationId xmlns:a16="http://schemas.microsoft.com/office/drawing/2014/main" id="{FA0EF8D4-0726-5B87-3030-357088344596}"/>
              </a:ext>
            </a:extLst>
          </p:cNvPr>
          <p:cNvPicPr>
            <a:picLocks noChangeAspect="1"/>
          </p:cNvPicPr>
          <p:nvPr/>
        </p:nvPicPr>
        <p:blipFill>
          <a:blip r:embed="rId2"/>
          <a:srcRect/>
          <a:stretch>
            <a:fillRect/>
          </a:stretch>
        </p:blipFill>
        <p:spPr>
          <a:xfrm>
            <a:off x="0" y="0"/>
            <a:ext cx="12192000" cy="1655763"/>
          </a:xfrm>
          <a:prstGeom prst="rect">
            <a:avLst/>
          </a:prstGeom>
        </p:spPr>
      </p:pic>
      <p:sp>
        <p:nvSpPr>
          <p:cNvPr id="11" name="TextBox 10">
            <a:extLst>
              <a:ext uri="{FF2B5EF4-FFF2-40B4-BE49-F238E27FC236}">
                <a16:creationId xmlns:a16="http://schemas.microsoft.com/office/drawing/2014/main" id="{0B7BADB1-9C5D-0D1D-DF3A-60FAB2B27C55}"/>
              </a:ext>
            </a:extLst>
          </p:cNvPr>
          <p:cNvSpPr txBox="1"/>
          <p:nvPr/>
        </p:nvSpPr>
        <p:spPr>
          <a:xfrm>
            <a:off x="8787384" y="3776472"/>
            <a:ext cx="2990088" cy="1323439"/>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        Guided by:</a:t>
            </a:r>
          </a:p>
          <a:p>
            <a:r>
              <a:rPr lang="en-IN" sz="2000" b="1" dirty="0">
                <a:latin typeface="Times New Roman" panose="02020603050405020304" pitchFamily="18" charset="0"/>
                <a:cs typeface="Times New Roman" panose="02020603050405020304" pitchFamily="18" charset="0"/>
              </a:rPr>
              <a:t>Mr. K. Sai Prasanth</a:t>
            </a:r>
          </a:p>
          <a:p>
            <a:r>
              <a:rPr lang="en-IN" sz="2000" dirty="0">
                <a:latin typeface="Times New Roman" panose="02020603050405020304" pitchFamily="18" charset="0"/>
                <a:cs typeface="Times New Roman" panose="02020603050405020304" pitchFamily="18" charset="0"/>
              </a:rPr>
              <a:t>Assistant Professor</a:t>
            </a:r>
          </a:p>
          <a:p>
            <a:r>
              <a:rPr lang="en-IN" sz="2000" dirty="0">
                <a:latin typeface="Times New Roman" panose="02020603050405020304" pitchFamily="18" charset="0"/>
                <a:cs typeface="Times New Roman" panose="02020603050405020304" pitchFamily="18" charset="0"/>
              </a:rPr>
              <a:t>     Dept of CSD</a:t>
            </a:r>
          </a:p>
        </p:txBody>
      </p:sp>
    </p:spTree>
    <p:extLst>
      <p:ext uri="{BB962C8B-B14F-4D97-AF65-F5344CB8AC3E}">
        <p14:creationId xmlns:p14="http://schemas.microsoft.com/office/powerpoint/2010/main" val="3327235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DA3E-A662-77C8-1CB9-FA460A974CAC}"/>
              </a:ext>
            </a:extLst>
          </p:cNvPr>
          <p:cNvSpPr>
            <a:spLocks noGrp="1"/>
          </p:cNvSpPr>
          <p:nvPr>
            <p:ph type="title"/>
          </p:nvPr>
        </p:nvSpPr>
        <p:spPr/>
        <p:txBody>
          <a:bodyPr/>
          <a:lstStyle/>
          <a:p>
            <a:r>
              <a:rPr lang="en-IN" b="1" dirty="0"/>
              <a:t>                                 </a:t>
            </a:r>
            <a:r>
              <a:rPr lang="en-IN" sz="5400"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579A9AC6-11A2-3A6D-3BC5-DAAEE54A8283}"/>
              </a:ext>
            </a:extLst>
          </p:cNvPr>
          <p:cNvSpPr>
            <a:spLocks noGrp="1"/>
          </p:cNvSpPr>
          <p:nvPr>
            <p:ph idx="1"/>
          </p:nvPr>
        </p:nvSpPr>
        <p:spPr>
          <a:xfrm>
            <a:off x="838200" y="1600200"/>
            <a:ext cx="10198608" cy="4576763"/>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Problem Statement</a:t>
            </a:r>
          </a:p>
          <a:p>
            <a:r>
              <a:rPr lang="en-IN" dirty="0">
                <a:latin typeface="Times New Roman" panose="02020603050405020304" pitchFamily="18" charset="0"/>
                <a:cs typeface="Times New Roman" panose="02020603050405020304" pitchFamily="18" charset="0"/>
              </a:rPr>
              <a:t>Abstract</a:t>
            </a:r>
          </a:p>
          <a:p>
            <a:r>
              <a:rPr lang="en-IN" dirty="0">
                <a:latin typeface="Times New Roman" panose="02020603050405020304" pitchFamily="18" charset="0"/>
                <a:cs typeface="Times New Roman" panose="02020603050405020304" pitchFamily="18" charset="0"/>
              </a:rPr>
              <a:t>Literature survey</a:t>
            </a:r>
          </a:p>
          <a:p>
            <a:r>
              <a:rPr lang="en-IN" dirty="0">
                <a:latin typeface="Times New Roman" panose="02020603050405020304" pitchFamily="18" charset="0"/>
                <a:cs typeface="Times New Roman" panose="02020603050405020304" pitchFamily="18" charset="0"/>
              </a:rPr>
              <a:t>Base Paper Execution</a:t>
            </a:r>
          </a:p>
          <a:p>
            <a:r>
              <a:rPr lang="en-IN" dirty="0">
                <a:latin typeface="Times New Roman" panose="02020603050405020304" pitchFamily="18" charset="0"/>
                <a:cs typeface="Times New Roman" panose="02020603050405020304" pitchFamily="18" charset="0"/>
              </a:rPr>
              <a:t>Existing Design </a:t>
            </a:r>
            <a:r>
              <a:rPr lang="en-IN" dirty="0" err="1">
                <a:latin typeface="Times New Roman" panose="02020603050405020304" pitchFamily="18" charset="0"/>
                <a:cs typeface="Times New Roman" panose="02020603050405020304" pitchFamily="18" charset="0"/>
              </a:rPr>
              <a:t>Design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Proposed System</a:t>
            </a:r>
          </a:p>
          <a:p>
            <a:r>
              <a:rPr lang="en-IN" dirty="0">
                <a:latin typeface="Times New Roman" panose="02020603050405020304" pitchFamily="18" charset="0"/>
                <a:cs typeface="Times New Roman" panose="02020603050405020304" pitchFamily="18" charset="0"/>
              </a:rPr>
              <a:t>Proposed Design</a:t>
            </a:r>
          </a:p>
          <a:p>
            <a:r>
              <a:rPr lang="en-IN" dirty="0">
                <a:latin typeface="Times New Roman" panose="02020603050405020304" pitchFamily="18" charset="0"/>
                <a:cs typeface="Times New Roman" panose="02020603050405020304" pitchFamily="18" charset="0"/>
              </a:rPr>
              <a:t>Results</a:t>
            </a:r>
          </a:p>
          <a:p>
            <a:r>
              <a:rPr lang="en-IN" dirty="0">
                <a:latin typeface="Times New Roman" panose="02020603050405020304" pitchFamily="18" charset="0"/>
                <a:cs typeface="Times New Roman" panose="02020603050405020304" pitchFamily="18" charset="0"/>
              </a:rPr>
              <a:t>Conclusion</a:t>
            </a:r>
          </a:p>
          <a:p>
            <a:r>
              <a:rPr lang="en-IN" dirty="0">
                <a:latin typeface="Times New Roman" panose="02020603050405020304" pitchFamily="18" charset="0"/>
                <a:cs typeface="Times New Roman" panose="02020603050405020304" pitchFamily="18" charset="0"/>
              </a:rPr>
              <a:t>Future Work</a:t>
            </a:r>
          </a:p>
        </p:txBody>
      </p:sp>
    </p:spTree>
    <p:extLst>
      <p:ext uri="{BB962C8B-B14F-4D97-AF65-F5344CB8AC3E}">
        <p14:creationId xmlns:p14="http://schemas.microsoft.com/office/powerpoint/2010/main" val="4170625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C42FE-C478-1B8B-963E-FFFB77D6AC3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a:t>
            </a:r>
            <a:r>
              <a:rPr lang="en-IN" sz="5400"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8903D5AA-F1BA-5D5D-F962-65D6096AB22E}"/>
              </a:ext>
            </a:extLst>
          </p:cNvPr>
          <p:cNvSpPr>
            <a:spLocks noGrp="1"/>
          </p:cNvSpPr>
          <p:nvPr>
            <p:ph idx="1"/>
          </p:nvPr>
        </p:nvSpPr>
        <p:spPr>
          <a:xfrm>
            <a:off x="838200" y="1690688"/>
            <a:ext cx="10515600" cy="4486275"/>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Driver fatigue, drowsiness, distraction, and reduced alertness are major causes of road accidents worldwide, often resulting from long driving hours, lack of sleep, stress, and poor lighting conditions. Existing safety systems primarily focus on vehicle performance and external factors, failing to monitor the driver’s physical and mental state in real time, which limits their effectiveness in preventing fatigue-related accidents. Therefore, there is a need for a non-intrusive driver monitoring system that continuously analyzes facial features such as eye closure duration, blinking frequency, yawning, head movement, and emotional state. The proposed system addresses this gap by providing real-time detection and alerts for unsafe conditions, thereby enhancing driver safety, reducing accident risk, and enabling adaptive monitoring for different individuals.</a:t>
            </a:r>
          </a:p>
          <a:p>
            <a:pPr algn="just"/>
            <a:endParaRPr lang="en-US"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88758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815F7-4BFE-5DAF-7875-0449B205F061}"/>
              </a:ext>
            </a:extLst>
          </p:cNvPr>
          <p:cNvSpPr>
            <a:spLocks noGrp="1"/>
          </p:cNvSpPr>
          <p:nvPr>
            <p:ph type="title"/>
          </p:nvPr>
        </p:nvSpPr>
        <p:spPr>
          <a:xfrm>
            <a:off x="838200" y="365125"/>
            <a:ext cx="10515600" cy="796163"/>
          </a:xfrm>
        </p:spPr>
        <p:txBody>
          <a:bodyPr>
            <a:normAutofit fontScale="90000"/>
          </a:bodyPr>
          <a:lstStyle/>
          <a:p>
            <a:r>
              <a:rPr lang="en-IN" sz="54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AF218B08-5A49-C382-591C-0BB49FC3A354}"/>
              </a:ext>
            </a:extLst>
          </p:cNvPr>
          <p:cNvSpPr>
            <a:spLocks noGrp="1"/>
          </p:cNvSpPr>
          <p:nvPr>
            <p:ph idx="1"/>
          </p:nvPr>
        </p:nvSpPr>
        <p:spPr>
          <a:xfrm>
            <a:off x="838200" y="1243584"/>
            <a:ext cx="10515600" cy="4933379"/>
          </a:xfrm>
        </p:spPr>
        <p:txBody>
          <a:bodyPr>
            <a:normAutofit fontScale="77500" lnSpcReduction="20000"/>
          </a:bodyPr>
          <a:lstStyle/>
          <a:p>
            <a:pPr marL="0" indent="0" algn="just">
              <a:buNone/>
            </a:pPr>
            <a:r>
              <a:rPr lang="en-US" sz="3300" dirty="0">
                <a:latin typeface="Times New Roman" panose="02020603050405020304" pitchFamily="18" charset="0"/>
                <a:cs typeface="Times New Roman" panose="02020603050405020304" pitchFamily="18" charset="0"/>
              </a:rPr>
              <a:t>Driver fatigue, drowsiness, and psychological conditions such as depression are major contributors to road accidents, yet many existing monitoring systems fail under real-world conditions such as low-light environments, occlusions from spectacles, and dynamic head movements. These limitations reduce the accuracy of </a:t>
            </a:r>
            <a:r>
              <a:rPr lang="en-US" sz="3300" dirty="0" err="1">
                <a:latin typeface="Times New Roman" panose="02020603050405020304" pitchFamily="18" charset="0"/>
                <a:cs typeface="Times New Roman" panose="02020603050405020304" pitchFamily="18" charset="0"/>
              </a:rPr>
              <a:t>behavioural</a:t>
            </a:r>
            <a:r>
              <a:rPr lang="en-US" sz="3300" dirty="0">
                <a:latin typeface="Times New Roman" panose="02020603050405020304" pitchFamily="18" charset="0"/>
                <a:cs typeface="Times New Roman" panose="02020603050405020304" pitchFamily="18" charset="0"/>
              </a:rPr>
              <a:t> cues like eye blinking, yawning, and facial expressions. To address these challenges, this project proposes a real-time driver state monitoring system based on a hybrid CNN–LSTM model, where the CNN extracts spatial facial features and the LSTM captures temporal </a:t>
            </a:r>
            <a:r>
              <a:rPr lang="en-US" sz="3300" dirty="0" err="1">
                <a:latin typeface="Times New Roman" panose="02020603050405020304" pitchFamily="18" charset="0"/>
                <a:cs typeface="Times New Roman" panose="02020603050405020304" pitchFamily="18" charset="0"/>
              </a:rPr>
              <a:t>behavioural</a:t>
            </a:r>
            <a:r>
              <a:rPr lang="en-US" sz="3300" dirty="0">
                <a:latin typeface="Times New Roman" panose="02020603050405020304" pitchFamily="18" charset="0"/>
                <a:cs typeface="Times New Roman" panose="02020603050405020304" pitchFamily="18" charset="0"/>
              </a:rPr>
              <a:t> patterns across video sequences. The system incorporates low-light enhancement to improve night-time performance and uses facial landmarks to analyze Eye Aspect Ratio (EAR), Mouth Aspect Ratio (MAR), and head pose for precise detection of drowsiness and depressive cues. By integrating multi-modal facial </a:t>
            </a:r>
            <a:r>
              <a:rPr lang="en-US" sz="3300" dirty="0" err="1">
                <a:latin typeface="Times New Roman" panose="02020603050405020304" pitchFamily="18" charset="0"/>
                <a:cs typeface="Times New Roman" panose="02020603050405020304" pitchFamily="18" charset="0"/>
              </a:rPr>
              <a:t>behaviour</a:t>
            </a:r>
            <a:r>
              <a:rPr lang="en-US" sz="3300" dirty="0">
                <a:latin typeface="Times New Roman" panose="02020603050405020304" pitchFamily="18" charset="0"/>
                <a:cs typeface="Times New Roman" panose="02020603050405020304" pitchFamily="18" charset="0"/>
              </a:rPr>
              <a:t> analysis with temporal deep learning, the proposed system provides reliable, early detection of risky driver states and delivers timely alerts to enhance safety in smart vehicle environments.</a:t>
            </a:r>
            <a:endParaRPr lang="en-IN" sz="33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303674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B105E-0153-9036-CFB1-B4724C1DE748}"/>
              </a:ext>
            </a:extLst>
          </p:cNvPr>
          <p:cNvSpPr>
            <a:spLocks noGrp="1"/>
          </p:cNvSpPr>
          <p:nvPr>
            <p:ph type="title"/>
          </p:nvPr>
        </p:nvSpPr>
        <p:spPr>
          <a:xfrm>
            <a:off x="1097280" y="365125"/>
            <a:ext cx="10256520" cy="503555"/>
          </a:xfrm>
        </p:spPr>
        <p:txBody>
          <a:bodyPr>
            <a:normAutofit fontScale="90000"/>
          </a:bodyPr>
          <a:lstStyle/>
          <a:p>
            <a:r>
              <a:rPr lang="en-IN" dirty="0">
                <a:latin typeface="Times New Roman" panose="02020603050405020304" pitchFamily="18" charset="0"/>
                <a:cs typeface="Times New Roman" panose="02020603050405020304" pitchFamily="18" charset="0"/>
              </a:rPr>
              <a:t>                       Literature Survey</a:t>
            </a:r>
            <a:endParaRPr lang="en-IN" dirty="0"/>
          </a:p>
        </p:txBody>
      </p:sp>
      <p:graphicFrame>
        <p:nvGraphicFramePr>
          <p:cNvPr id="5" name="Content Placeholder 4">
            <a:extLst>
              <a:ext uri="{FF2B5EF4-FFF2-40B4-BE49-F238E27FC236}">
                <a16:creationId xmlns:a16="http://schemas.microsoft.com/office/drawing/2014/main" id="{4366B921-D915-ABAD-9B0D-D1D45DA85042}"/>
              </a:ext>
            </a:extLst>
          </p:cNvPr>
          <p:cNvGraphicFramePr>
            <a:graphicFrameLocks noGrp="1"/>
          </p:cNvGraphicFramePr>
          <p:nvPr>
            <p:ph idx="1"/>
            <p:extLst>
              <p:ext uri="{D42A27DB-BD31-4B8C-83A1-F6EECF244321}">
                <p14:modId xmlns:p14="http://schemas.microsoft.com/office/powerpoint/2010/main" val="1568584934"/>
              </p:ext>
            </p:extLst>
          </p:nvPr>
        </p:nvGraphicFramePr>
        <p:xfrm>
          <a:off x="320040" y="1024129"/>
          <a:ext cx="11466576" cy="5715001"/>
        </p:xfrm>
        <a:graphic>
          <a:graphicData uri="http://schemas.openxmlformats.org/drawingml/2006/table">
            <a:tbl>
              <a:tblPr firstRow="1" bandRow="1">
                <a:tableStyleId>{5C22544A-7EE6-4342-B048-85BDC9FD1C3A}</a:tableStyleId>
              </a:tblPr>
              <a:tblGrid>
                <a:gridCol w="2866644">
                  <a:extLst>
                    <a:ext uri="{9D8B030D-6E8A-4147-A177-3AD203B41FA5}">
                      <a16:colId xmlns:a16="http://schemas.microsoft.com/office/drawing/2014/main" val="3296942227"/>
                    </a:ext>
                  </a:extLst>
                </a:gridCol>
                <a:gridCol w="2866644">
                  <a:extLst>
                    <a:ext uri="{9D8B030D-6E8A-4147-A177-3AD203B41FA5}">
                      <a16:colId xmlns:a16="http://schemas.microsoft.com/office/drawing/2014/main" val="2309346880"/>
                    </a:ext>
                  </a:extLst>
                </a:gridCol>
                <a:gridCol w="2866644">
                  <a:extLst>
                    <a:ext uri="{9D8B030D-6E8A-4147-A177-3AD203B41FA5}">
                      <a16:colId xmlns:a16="http://schemas.microsoft.com/office/drawing/2014/main" val="1752730321"/>
                    </a:ext>
                  </a:extLst>
                </a:gridCol>
                <a:gridCol w="2866644">
                  <a:extLst>
                    <a:ext uri="{9D8B030D-6E8A-4147-A177-3AD203B41FA5}">
                      <a16:colId xmlns:a16="http://schemas.microsoft.com/office/drawing/2014/main" val="896863354"/>
                    </a:ext>
                  </a:extLst>
                </a:gridCol>
              </a:tblGrid>
              <a:tr h="12463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t>Reference Title</a:t>
                      </a:r>
                      <a:endParaRPr lang="en-IN" sz="2800" dirty="0"/>
                    </a:p>
                    <a:p>
                      <a:endParaRPr lang="en-IN" dirty="0"/>
                    </a:p>
                  </a:txBody>
                  <a:tcPr/>
                </a:tc>
                <a:tc>
                  <a:txBody>
                    <a:bodyPr/>
                    <a:lstStyle/>
                    <a:p>
                      <a:pPr>
                        <a:buNone/>
                      </a:pPr>
                      <a:r>
                        <a:rPr lang="en-IN" sz="2400" b="1" dirty="0"/>
                        <a:t>Problem Addressed</a:t>
                      </a:r>
                      <a:endParaRPr lang="en-IN" sz="2400" dirty="0"/>
                    </a:p>
                  </a:txBody>
                  <a:tcPr marL="55080" marR="55080" marT="27540" marB="27540" anchor="ctr"/>
                </a:tc>
                <a:tc>
                  <a:txBody>
                    <a:bodyPr/>
                    <a:lstStyle/>
                    <a:p>
                      <a:pPr>
                        <a:buNone/>
                      </a:pPr>
                      <a:r>
                        <a:rPr lang="en-IN" sz="2400" b="1" dirty="0"/>
                        <a:t>Methodology Used</a:t>
                      </a:r>
                      <a:endParaRPr lang="en-IN" sz="2400" dirty="0"/>
                    </a:p>
                  </a:txBody>
                  <a:tcPr marL="55080" marR="55080" marT="27540" marB="27540" anchor="ctr"/>
                </a:tc>
                <a:tc>
                  <a:txBody>
                    <a:bodyPr/>
                    <a:lstStyle/>
                    <a:p>
                      <a:r>
                        <a:rPr lang="en-IN" sz="2800" dirty="0"/>
                        <a:t>Advantages/Disadvantages</a:t>
                      </a:r>
                    </a:p>
                  </a:txBody>
                  <a:tcPr/>
                </a:tc>
                <a:extLst>
                  <a:ext uri="{0D108BD9-81ED-4DB2-BD59-A6C34878D82A}">
                    <a16:rowId xmlns:a16="http://schemas.microsoft.com/office/drawing/2014/main" val="1234144737"/>
                  </a:ext>
                </a:extLst>
              </a:tr>
              <a:tr h="1614194">
                <a:tc>
                  <a:txBody>
                    <a:bodyPr/>
                    <a:lstStyle/>
                    <a:p>
                      <a:pPr>
                        <a:buNone/>
                      </a:pPr>
                      <a:r>
                        <a:rPr lang="en-US" sz="2400" dirty="0">
                          <a:latin typeface="Times New Roman" panose="02020603050405020304" pitchFamily="18" charset="0"/>
                          <a:cs typeface="Times New Roman" panose="02020603050405020304" pitchFamily="18" charset="0"/>
                        </a:rPr>
                        <a:t>Real-Time Driver Drowsiness Detection Using Eye Blink Analysis</a:t>
                      </a:r>
                    </a:p>
                  </a:txBody>
                  <a:tcPr marL="55080" marR="55080" marT="27540" marB="27540" anchor="ctr"/>
                </a:tc>
                <a:tc>
                  <a:txBody>
                    <a:bodyPr/>
                    <a:lstStyle/>
                    <a:p>
                      <a:pPr>
                        <a:buNone/>
                      </a:pPr>
                      <a:r>
                        <a:rPr lang="en-US" sz="2400" dirty="0">
                          <a:latin typeface="Times New Roman" panose="02020603050405020304" pitchFamily="18" charset="0"/>
                          <a:cs typeface="Times New Roman" panose="02020603050405020304" pitchFamily="18" charset="0"/>
                        </a:rPr>
                        <a:t>Detect driver fatigue through eye behavior</a:t>
                      </a:r>
                    </a:p>
                  </a:txBody>
                  <a:tcPr marL="55080" marR="55080" marT="27540" marB="27540" anchor="ctr"/>
                </a:tc>
                <a:tc>
                  <a:txBody>
                    <a:bodyPr/>
                    <a:lstStyle/>
                    <a:p>
                      <a:pPr>
                        <a:buNone/>
                      </a:pPr>
                      <a:r>
                        <a:rPr lang="en-US" sz="2000" dirty="0">
                          <a:latin typeface="Times New Roman" panose="02020603050405020304" pitchFamily="18" charset="0"/>
                          <a:cs typeface="Times New Roman" panose="02020603050405020304" pitchFamily="18" charset="0"/>
                        </a:rPr>
                        <a:t>Haar Cascade used for eye detection and blink rate analysis based on threshold values</a:t>
                      </a:r>
                    </a:p>
                  </a:txBody>
                  <a:tcPr marL="55080" marR="55080" marT="27540" marB="27540" anchor="ctr"/>
                </a:tc>
                <a:tc>
                  <a:txBody>
                    <a:bodyPr/>
                    <a:lstStyle/>
                    <a:p>
                      <a:pPr>
                        <a:buNone/>
                      </a:pPr>
                      <a:r>
                        <a:rPr lang="en-US" sz="2000" dirty="0">
                          <a:latin typeface="Times New Roman" panose="02020603050405020304" pitchFamily="18" charset="0"/>
                          <a:cs typeface="Times New Roman" panose="02020603050405020304" pitchFamily="18" charset="0"/>
                        </a:rPr>
                        <a:t>Simple and fast implementation; accuracy affected by lighting conditions and head movements</a:t>
                      </a:r>
                    </a:p>
                  </a:txBody>
                  <a:tcPr marL="55080" marR="55080" marT="27540" marB="27540" anchor="ctr"/>
                </a:tc>
                <a:extLst>
                  <a:ext uri="{0D108BD9-81ED-4DB2-BD59-A6C34878D82A}">
                    <a16:rowId xmlns:a16="http://schemas.microsoft.com/office/drawing/2014/main" val="2820107030"/>
                  </a:ext>
                </a:extLst>
              </a:tr>
              <a:tr h="1302616">
                <a:tc>
                  <a:txBody>
                    <a:bodyPr/>
                    <a:lstStyle/>
                    <a:p>
                      <a:pPr>
                        <a:buNone/>
                      </a:pPr>
                      <a:r>
                        <a:rPr lang="en-US" sz="2400" dirty="0">
                          <a:latin typeface="Times New Roman" panose="02020603050405020304" pitchFamily="18" charset="0"/>
                          <a:cs typeface="Times New Roman" panose="02020603050405020304" pitchFamily="18" charset="0"/>
                        </a:rPr>
                        <a:t>Vision-Based Driver Fatigue Detection System</a:t>
                      </a:r>
                    </a:p>
                  </a:txBody>
                  <a:tcPr marL="55080" marR="55080" marT="27540" marB="27540" anchor="ctr"/>
                </a:tc>
                <a:tc>
                  <a:txBody>
                    <a:bodyPr/>
                    <a:lstStyle/>
                    <a:p>
                      <a:pPr>
                        <a:buNone/>
                      </a:pPr>
                      <a:r>
                        <a:rPr lang="en-US" sz="2400" dirty="0">
                          <a:latin typeface="Times New Roman" panose="02020603050405020304" pitchFamily="18" charset="0"/>
                          <a:cs typeface="Times New Roman" panose="02020603050405020304" pitchFamily="18" charset="0"/>
                        </a:rPr>
                        <a:t>Monitoring driver alertness using facial cues</a:t>
                      </a:r>
                    </a:p>
                  </a:txBody>
                  <a:tcPr marL="55080" marR="55080" marT="27540" marB="27540" anchor="ctr"/>
                </a:tc>
                <a:tc>
                  <a:txBody>
                    <a:bodyPr/>
                    <a:lstStyle/>
                    <a:p>
                      <a:pPr>
                        <a:buNone/>
                      </a:pPr>
                      <a:r>
                        <a:rPr lang="en-US" sz="2000" dirty="0">
                          <a:latin typeface="Times New Roman" panose="02020603050405020304" pitchFamily="18" charset="0"/>
                          <a:cs typeface="Times New Roman" panose="02020603050405020304" pitchFamily="18" charset="0"/>
                        </a:rPr>
                        <a:t>Face and eye detection using Haar features followed by eye state analysis</a:t>
                      </a:r>
                    </a:p>
                  </a:txBody>
                  <a:tcPr marL="55080" marR="55080" marT="27540" marB="27540" anchor="ctr"/>
                </a:tc>
                <a:tc>
                  <a:txBody>
                    <a:bodyPr/>
                    <a:lstStyle/>
                    <a:p>
                      <a:pPr>
                        <a:buNone/>
                      </a:pPr>
                      <a:r>
                        <a:rPr lang="en-US" sz="2000" dirty="0">
                          <a:latin typeface="Times New Roman" panose="02020603050405020304" pitchFamily="18" charset="0"/>
                          <a:cs typeface="Times New Roman" panose="02020603050405020304" pitchFamily="18" charset="0"/>
                        </a:rPr>
                        <a:t>Non-intrusive and cost-effective; sensitive to camera angle variations</a:t>
                      </a:r>
                    </a:p>
                  </a:txBody>
                  <a:tcPr marL="55080" marR="55080" marT="27540" marB="27540" anchor="ctr"/>
                </a:tc>
                <a:extLst>
                  <a:ext uri="{0D108BD9-81ED-4DB2-BD59-A6C34878D82A}">
                    <a16:rowId xmlns:a16="http://schemas.microsoft.com/office/drawing/2014/main" val="1553246786"/>
                  </a:ext>
                </a:extLst>
              </a:tr>
              <a:tr h="1551879">
                <a:tc>
                  <a:txBody>
                    <a:bodyPr/>
                    <a:lstStyle/>
                    <a:p>
                      <a:pPr>
                        <a:buNone/>
                      </a:pPr>
                      <a:r>
                        <a:rPr lang="en-US" sz="2400" dirty="0">
                          <a:latin typeface="Times New Roman" panose="02020603050405020304" pitchFamily="18" charset="0"/>
                          <a:cs typeface="Times New Roman" panose="02020603050405020304" pitchFamily="18" charset="0"/>
                        </a:rPr>
                        <a:t>Driver Drowsiness Detection Using Convolutional Neural Networks</a:t>
                      </a:r>
                    </a:p>
                  </a:txBody>
                  <a:tcPr marL="55080" marR="55080" marT="27540" marB="27540" anchor="ctr"/>
                </a:tc>
                <a:tc>
                  <a:txBody>
                    <a:bodyPr/>
                    <a:lstStyle/>
                    <a:p>
                      <a:pPr>
                        <a:buNone/>
                      </a:pPr>
                      <a:r>
                        <a:rPr lang="en-IN" sz="2400" dirty="0">
                          <a:latin typeface="Times New Roman" panose="02020603050405020304" pitchFamily="18" charset="0"/>
                          <a:cs typeface="Times New Roman" panose="02020603050405020304" pitchFamily="18" charset="0"/>
                        </a:rPr>
                        <a:t>Accurate eye state classification</a:t>
                      </a:r>
                    </a:p>
                  </a:txBody>
                  <a:tcPr marL="55080" marR="55080" marT="27540" marB="27540" anchor="ctr"/>
                </a:tc>
                <a:tc>
                  <a:txBody>
                    <a:bodyPr/>
                    <a:lstStyle/>
                    <a:p>
                      <a:pPr>
                        <a:buNone/>
                      </a:pPr>
                      <a:r>
                        <a:rPr lang="en-US" sz="2400" dirty="0">
                          <a:latin typeface="Times New Roman" panose="02020603050405020304" pitchFamily="18" charset="0"/>
                          <a:cs typeface="Times New Roman" panose="02020603050405020304" pitchFamily="18" charset="0"/>
                        </a:rPr>
                        <a:t>CNN trained on eye image datasets to classify eyes as open or closed</a:t>
                      </a:r>
                    </a:p>
                  </a:txBody>
                  <a:tcPr marL="55080" marR="55080" marT="27540" marB="27540" anchor="ctr"/>
                </a:tc>
                <a:tc>
                  <a:txBody>
                    <a:bodyPr/>
                    <a:lstStyle/>
                    <a:p>
                      <a:pPr>
                        <a:buNone/>
                      </a:pPr>
                      <a:r>
                        <a:rPr lang="en-US" sz="2000" dirty="0">
                          <a:latin typeface="Times New Roman" panose="02020603050405020304" pitchFamily="18" charset="0"/>
                          <a:cs typeface="Times New Roman" panose="02020603050405020304" pitchFamily="18" charset="0"/>
                        </a:rPr>
                        <a:t>High classification accuracy; requires large labeled datasets</a:t>
                      </a:r>
                    </a:p>
                  </a:txBody>
                  <a:tcPr marL="55080" marR="55080" marT="27540" marB="27540" anchor="ctr"/>
                </a:tc>
                <a:extLst>
                  <a:ext uri="{0D108BD9-81ED-4DB2-BD59-A6C34878D82A}">
                    <a16:rowId xmlns:a16="http://schemas.microsoft.com/office/drawing/2014/main" val="1976404633"/>
                  </a:ext>
                </a:extLst>
              </a:tr>
            </a:tbl>
          </a:graphicData>
        </a:graphic>
      </p:graphicFrame>
    </p:spTree>
    <p:extLst>
      <p:ext uri="{BB962C8B-B14F-4D97-AF65-F5344CB8AC3E}">
        <p14:creationId xmlns:p14="http://schemas.microsoft.com/office/powerpoint/2010/main" val="1729147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C7919-EF02-3B33-B687-F1C78C10B043}"/>
              </a:ext>
            </a:extLst>
          </p:cNvPr>
          <p:cNvSpPr>
            <a:spLocks noGrp="1"/>
          </p:cNvSpPr>
          <p:nvPr>
            <p:ph type="title"/>
          </p:nvPr>
        </p:nvSpPr>
        <p:spPr>
          <a:xfrm>
            <a:off x="838200" y="1069848"/>
            <a:ext cx="10515600" cy="620840"/>
          </a:xfrm>
        </p:spPr>
        <p:txBody>
          <a:bodyPr>
            <a:normAutofit fontScale="90000"/>
          </a:bodyPr>
          <a:lstStyle/>
          <a:p>
            <a:endParaRPr lang="en-IN" dirty="0"/>
          </a:p>
        </p:txBody>
      </p:sp>
      <p:graphicFrame>
        <p:nvGraphicFramePr>
          <p:cNvPr id="4" name="Content Placeholder 3">
            <a:extLst>
              <a:ext uri="{FF2B5EF4-FFF2-40B4-BE49-F238E27FC236}">
                <a16:creationId xmlns:a16="http://schemas.microsoft.com/office/drawing/2014/main" id="{0DF8B06E-52B2-4F14-8BE7-B1398540F9AF}"/>
              </a:ext>
            </a:extLst>
          </p:cNvPr>
          <p:cNvGraphicFramePr>
            <a:graphicFrameLocks noGrp="1"/>
          </p:cNvGraphicFramePr>
          <p:nvPr>
            <p:ph idx="1"/>
            <p:extLst>
              <p:ext uri="{D42A27DB-BD31-4B8C-83A1-F6EECF244321}">
                <p14:modId xmlns:p14="http://schemas.microsoft.com/office/powerpoint/2010/main" val="1587839333"/>
              </p:ext>
            </p:extLst>
          </p:nvPr>
        </p:nvGraphicFramePr>
        <p:xfrm>
          <a:off x="713232" y="777240"/>
          <a:ext cx="10808208" cy="4286727"/>
        </p:xfrm>
        <a:graphic>
          <a:graphicData uri="http://schemas.openxmlformats.org/drawingml/2006/table">
            <a:tbl>
              <a:tblPr firstRow="1" bandRow="1">
                <a:tableStyleId>{5C22544A-7EE6-4342-B048-85BDC9FD1C3A}</a:tableStyleId>
              </a:tblPr>
              <a:tblGrid>
                <a:gridCol w="2702052">
                  <a:extLst>
                    <a:ext uri="{9D8B030D-6E8A-4147-A177-3AD203B41FA5}">
                      <a16:colId xmlns:a16="http://schemas.microsoft.com/office/drawing/2014/main" val="3752315435"/>
                    </a:ext>
                  </a:extLst>
                </a:gridCol>
                <a:gridCol w="2702052">
                  <a:extLst>
                    <a:ext uri="{9D8B030D-6E8A-4147-A177-3AD203B41FA5}">
                      <a16:colId xmlns:a16="http://schemas.microsoft.com/office/drawing/2014/main" val="547575064"/>
                    </a:ext>
                  </a:extLst>
                </a:gridCol>
                <a:gridCol w="2702052">
                  <a:extLst>
                    <a:ext uri="{9D8B030D-6E8A-4147-A177-3AD203B41FA5}">
                      <a16:colId xmlns:a16="http://schemas.microsoft.com/office/drawing/2014/main" val="860658168"/>
                    </a:ext>
                  </a:extLst>
                </a:gridCol>
                <a:gridCol w="2702052">
                  <a:extLst>
                    <a:ext uri="{9D8B030D-6E8A-4147-A177-3AD203B41FA5}">
                      <a16:colId xmlns:a16="http://schemas.microsoft.com/office/drawing/2014/main" val="2849087942"/>
                    </a:ext>
                  </a:extLst>
                </a:gridCol>
              </a:tblGrid>
              <a:tr h="1428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t>Reference Title</a:t>
                      </a:r>
                      <a:endParaRPr lang="en-IN" sz="2800" dirty="0"/>
                    </a:p>
                  </a:txBody>
                  <a:tcPr/>
                </a:tc>
                <a:tc>
                  <a:txBody>
                    <a:bodyPr/>
                    <a:lstStyle/>
                    <a:p>
                      <a:pPr>
                        <a:buNone/>
                      </a:pPr>
                      <a:r>
                        <a:rPr lang="en-IN" sz="2400" b="1" dirty="0"/>
                        <a:t>Problem Addressed</a:t>
                      </a:r>
                      <a:endParaRPr lang="en-IN" sz="2400" dirty="0"/>
                    </a:p>
                  </a:txBody>
                  <a:tcPr marL="55080" marR="55080" marT="27540" marB="27540" anchor="ctr"/>
                </a:tc>
                <a:tc>
                  <a:txBody>
                    <a:bodyPr/>
                    <a:lstStyle/>
                    <a:p>
                      <a:pPr>
                        <a:buNone/>
                      </a:pPr>
                      <a:r>
                        <a:rPr lang="en-IN" sz="2400" b="1" dirty="0"/>
                        <a:t>Methodology Used</a:t>
                      </a:r>
                      <a:endParaRPr lang="en-IN" sz="2400" dirty="0"/>
                    </a:p>
                  </a:txBody>
                  <a:tcPr marL="55080" marR="55080" marT="27540" marB="27540" anchor="ctr"/>
                </a:tc>
                <a:tc>
                  <a:txBody>
                    <a:bodyPr/>
                    <a:lstStyle/>
                    <a:p>
                      <a:r>
                        <a:rPr lang="en-IN" sz="2800" dirty="0"/>
                        <a:t>Advantages/Disadvantages</a:t>
                      </a:r>
                    </a:p>
                  </a:txBody>
                  <a:tcPr/>
                </a:tc>
                <a:extLst>
                  <a:ext uri="{0D108BD9-81ED-4DB2-BD59-A6C34878D82A}">
                    <a16:rowId xmlns:a16="http://schemas.microsoft.com/office/drawing/2014/main" val="3153014958"/>
                  </a:ext>
                </a:extLst>
              </a:tr>
              <a:tr h="1428909">
                <a:tc>
                  <a:txBody>
                    <a:bodyPr/>
                    <a:lstStyle/>
                    <a:p>
                      <a:pPr algn="l">
                        <a:buNone/>
                      </a:pPr>
                      <a:r>
                        <a:rPr lang="en-IN" sz="2000" dirty="0">
                          <a:latin typeface="Times New Roman" panose="02020603050405020304" pitchFamily="18" charset="0"/>
                          <a:cs typeface="Times New Roman" panose="02020603050405020304" pitchFamily="18" charset="0"/>
                        </a:rPr>
                        <a:t>Yawning Detection for Driver Fatigue Monitoring</a:t>
                      </a:r>
                    </a:p>
                  </a:txBody>
                  <a:tcPr marL="55080" marR="55080" marT="27540" marB="27540" anchor="ctr"/>
                </a:tc>
                <a:tc>
                  <a:txBody>
                    <a:bodyPr/>
                    <a:lstStyle/>
                    <a:p>
                      <a:pPr algn="l">
                        <a:buNone/>
                      </a:pPr>
                      <a:r>
                        <a:rPr lang="en-US" sz="2000">
                          <a:latin typeface="Times New Roman" panose="02020603050405020304" pitchFamily="18" charset="0"/>
                          <a:cs typeface="Times New Roman" panose="02020603050405020304" pitchFamily="18" charset="0"/>
                        </a:rPr>
                        <a:t>Use yawning as an indicator of drowsiness</a:t>
                      </a:r>
                    </a:p>
                  </a:txBody>
                  <a:tcPr marL="55080" marR="55080" marT="27540" marB="27540" anchor="ctr"/>
                </a:tc>
                <a:tc>
                  <a:txBody>
                    <a:bodyPr/>
                    <a:lstStyle/>
                    <a:p>
                      <a:pPr algn="l">
                        <a:buNone/>
                      </a:pPr>
                      <a:r>
                        <a:rPr lang="en-US" sz="2000">
                          <a:latin typeface="Times New Roman" panose="02020603050405020304" pitchFamily="18" charset="0"/>
                          <a:cs typeface="Times New Roman" panose="02020603050405020304" pitchFamily="18" charset="0"/>
                        </a:rPr>
                        <a:t>Mouth region extraction and image-based yawning classification</a:t>
                      </a:r>
                    </a:p>
                  </a:txBody>
                  <a:tcPr marL="55080" marR="55080" marT="27540" marB="27540" anchor="ctr"/>
                </a:tc>
                <a:tc>
                  <a:txBody>
                    <a:bodyPr/>
                    <a:lstStyle/>
                    <a:p>
                      <a:pPr algn="l">
                        <a:buNone/>
                      </a:pPr>
                      <a:r>
                        <a:rPr lang="en-US" sz="2000">
                          <a:latin typeface="Times New Roman" panose="02020603050405020304" pitchFamily="18" charset="0"/>
                          <a:cs typeface="Times New Roman" panose="02020603050405020304" pitchFamily="18" charset="0"/>
                        </a:rPr>
                        <a:t>Effective secondary fatigue cue; false positives during speaking</a:t>
                      </a:r>
                    </a:p>
                  </a:txBody>
                  <a:tcPr marL="55080" marR="55080" marT="27540" marB="27540" anchor="ctr"/>
                </a:tc>
                <a:extLst>
                  <a:ext uri="{0D108BD9-81ED-4DB2-BD59-A6C34878D82A}">
                    <a16:rowId xmlns:a16="http://schemas.microsoft.com/office/drawing/2014/main" val="4247464037"/>
                  </a:ext>
                </a:extLst>
              </a:tr>
              <a:tr h="1428909">
                <a:tc>
                  <a:txBody>
                    <a:bodyPr/>
                    <a:lstStyle/>
                    <a:p>
                      <a:pPr algn="l">
                        <a:buNone/>
                      </a:pPr>
                      <a:r>
                        <a:rPr lang="en-IN" sz="2000">
                          <a:latin typeface="Times New Roman" panose="02020603050405020304" pitchFamily="18" charset="0"/>
                          <a:cs typeface="Times New Roman" panose="02020603050405020304" pitchFamily="18" charset="0"/>
                        </a:rPr>
                        <a:t>Hybrid CNN–SVM Based Image Classification</a:t>
                      </a:r>
                    </a:p>
                  </a:txBody>
                  <a:tcPr marL="55080" marR="55080" marT="27540" marB="27540" anchor="ctr"/>
                </a:tc>
                <a:tc>
                  <a:txBody>
                    <a:bodyPr/>
                    <a:lstStyle/>
                    <a:p>
                      <a:pPr algn="l">
                        <a:buNone/>
                      </a:pPr>
                      <a:r>
                        <a:rPr lang="en-US" sz="2000">
                          <a:latin typeface="Times New Roman" panose="02020603050405020304" pitchFamily="18" charset="0"/>
                          <a:cs typeface="Times New Roman" panose="02020603050405020304" pitchFamily="18" charset="0"/>
                        </a:rPr>
                        <a:t>Improve robustness of visual classification</a:t>
                      </a:r>
                    </a:p>
                  </a:txBody>
                  <a:tcPr marL="55080" marR="55080" marT="27540" marB="27540" anchor="ctr"/>
                </a:tc>
                <a:tc>
                  <a:txBody>
                    <a:bodyPr/>
                    <a:lstStyle/>
                    <a:p>
                      <a:pPr algn="l">
                        <a:buNone/>
                      </a:pPr>
                      <a:r>
                        <a:rPr lang="en-US" sz="2000">
                          <a:latin typeface="Times New Roman" panose="02020603050405020304" pitchFamily="18" charset="0"/>
                          <a:cs typeface="Times New Roman" panose="02020603050405020304" pitchFamily="18" charset="0"/>
                        </a:rPr>
                        <a:t>CNN used for feature extraction and SVM for final classification</a:t>
                      </a:r>
                    </a:p>
                  </a:txBody>
                  <a:tcPr marL="55080" marR="55080" marT="27540" marB="27540" anchor="ctr"/>
                </a:tc>
                <a:tc>
                  <a:txBody>
                    <a:bodyPr/>
                    <a:lstStyle/>
                    <a:p>
                      <a:pPr algn="l">
                        <a:buNone/>
                      </a:pPr>
                      <a:r>
                        <a:rPr lang="en-US" sz="2000" dirty="0">
                          <a:latin typeface="Times New Roman" panose="02020603050405020304" pitchFamily="18" charset="0"/>
                          <a:cs typeface="Times New Roman" panose="02020603050405020304" pitchFamily="18" charset="0"/>
                        </a:rPr>
                        <a:t>Better generalization and accuracy; increased computational complexity</a:t>
                      </a:r>
                    </a:p>
                  </a:txBody>
                  <a:tcPr marL="55080" marR="55080" marT="27540" marB="27540" anchor="ctr"/>
                </a:tc>
                <a:extLst>
                  <a:ext uri="{0D108BD9-81ED-4DB2-BD59-A6C34878D82A}">
                    <a16:rowId xmlns:a16="http://schemas.microsoft.com/office/drawing/2014/main" val="81866527"/>
                  </a:ext>
                </a:extLst>
              </a:tr>
            </a:tbl>
          </a:graphicData>
        </a:graphic>
      </p:graphicFrame>
    </p:spTree>
    <p:extLst>
      <p:ext uri="{BB962C8B-B14F-4D97-AF65-F5344CB8AC3E}">
        <p14:creationId xmlns:p14="http://schemas.microsoft.com/office/powerpoint/2010/main" val="2317417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1B60A-28B8-B827-6B0B-5F9E919EDF48}"/>
              </a:ext>
            </a:extLst>
          </p:cNvPr>
          <p:cNvSpPr>
            <a:spLocks noGrp="1"/>
          </p:cNvSpPr>
          <p:nvPr>
            <p:ph type="title"/>
          </p:nvPr>
        </p:nvSpPr>
        <p:spPr>
          <a:xfrm>
            <a:off x="838200" y="365125"/>
            <a:ext cx="10515600" cy="659003"/>
          </a:xfrm>
        </p:spPr>
        <p:txBody>
          <a:bodyPr>
            <a:normAutofit fontScale="90000"/>
          </a:bodyPr>
          <a:lstStyle/>
          <a:p>
            <a:r>
              <a:rPr lang="en-IN" dirty="0">
                <a:latin typeface="Times New Roman" panose="02020603050405020304" pitchFamily="18" charset="0"/>
                <a:cs typeface="Times New Roman" panose="02020603050405020304" pitchFamily="18" charset="0"/>
              </a:rPr>
              <a:t>                           Existing System</a:t>
            </a:r>
          </a:p>
        </p:txBody>
      </p:sp>
      <p:sp>
        <p:nvSpPr>
          <p:cNvPr id="3" name="Content Placeholder 2">
            <a:extLst>
              <a:ext uri="{FF2B5EF4-FFF2-40B4-BE49-F238E27FC236}">
                <a16:creationId xmlns:a16="http://schemas.microsoft.com/office/drawing/2014/main" id="{81023B9F-DB74-1D8C-6581-5950D00B75A8}"/>
              </a:ext>
            </a:extLst>
          </p:cNvPr>
          <p:cNvSpPr>
            <a:spLocks noGrp="1"/>
          </p:cNvSpPr>
          <p:nvPr>
            <p:ph idx="1"/>
          </p:nvPr>
        </p:nvSpPr>
        <p:spPr>
          <a:xfrm>
            <a:off x="838200" y="1088136"/>
            <a:ext cx="10515600" cy="5088827"/>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The base paper implements a vision-based driver drowsiness detection system using image datasets. In the offline phase, labeled eye images are used to train a Convolutional Neural Network (CNN) for feature extraction, followed by a Support Vector Machine (SVM) for classifying eye states as open or closed. A separate image dataset containing yawning and non-yawning mouth images is used to train the yawning detection model.</a:t>
            </a:r>
          </a:p>
          <a:p>
            <a:pPr marL="0" indent="0" algn="just">
              <a:buNone/>
            </a:pPr>
            <a:r>
              <a:rPr lang="en-US" dirty="0">
                <a:latin typeface="Times New Roman" panose="02020603050405020304" pitchFamily="18" charset="0"/>
                <a:cs typeface="Times New Roman" panose="02020603050405020304" pitchFamily="18" charset="0"/>
              </a:rPr>
              <a:t>During video execution, video frames are captured using a webcam. Haar Cascade classifiers are applied to detect the driver’s face and eye regions. The extracted eye regions are classified using the trained CNN–SVM model, while yawning is identified through mouth region analysis. Temporal counters are maintained to track prolonged eye closure and repeated yawning events. Based on predefined thresholds, the system determines driver drowsiness and generates an alert.</a:t>
            </a:r>
          </a:p>
          <a:p>
            <a:pPr marL="0" indent="0">
              <a:buNone/>
            </a:pPr>
            <a:endParaRPr lang="en-IN" dirty="0"/>
          </a:p>
        </p:txBody>
      </p:sp>
    </p:spTree>
    <p:extLst>
      <p:ext uri="{BB962C8B-B14F-4D97-AF65-F5344CB8AC3E}">
        <p14:creationId xmlns:p14="http://schemas.microsoft.com/office/powerpoint/2010/main" val="2060245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C2393-8B43-64A9-F69C-EF2327E55E96}"/>
              </a:ext>
            </a:extLst>
          </p:cNvPr>
          <p:cNvSpPr>
            <a:spLocks noGrp="1"/>
          </p:cNvSpPr>
          <p:nvPr>
            <p:ph type="title"/>
          </p:nvPr>
        </p:nvSpPr>
        <p:spPr>
          <a:xfrm rot="10800000" flipV="1">
            <a:off x="2983992" y="210313"/>
            <a:ext cx="5154168" cy="155447"/>
          </a:xfrm>
        </p:spPr>
        <p:txBody>
          <a:bodyPr>
            <a:normAutofit fontScale="90000"/>
          </a:bodyPr>
          <a:lstStyle/>
          <a:p>
            <a:r>
              <a:rPr lang="en-IN" dirty="0"/>
              <a:t>             </a:t>
            </a:r>
            <a:r>
              <a:rPr lang="en-IN" dirty="0">
                <a:latin typeface="Times New Roman" panose="02020603050405020304" pitchFamily="18" charset="0"/>
                <a:cs typeface="Times New Roman" panose="02020603050405020304" pitchFamily="18" charset="0"/>
              </a:rPr>
              <a:t>Existing Design</a:t>
            </a:r>
          </a:p>
        </p:txBody>
      </p:sp>
      <p:pic>
        <p:nvPicPr>
          <p:cNvPr id="7" name="Content Placeholder 6">
            <a:extLst>
              <a:ext uri="{FF2B5EF4-FFF2-40B4-BE49-F238E27FC236}">
                <a16:creationId xmlns:a16="http://schemas.microsoft.com/office/drawing/2014/main" id="{AD8A0086-3927-3935-701B-C8408695CB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4600" y="603504"/>
            <a:ext cx="6940296" cy="6108192"/>
          </a:xfrm>
          <a:prstGeom prst="rect">
            <a:avLst/>
          </a:prstGeom>
        </p:spPr>
      </p:pic>
    </p:spTree>
    <p:extLst>
      <p:ext uri="{BB962C8B-B14F-4D97-AF65-F5344CB8AC3E}">
        <p14:creationId xmlns:p14="http://schemas.microsoft.com/office/powerpoint/2010/main" val="377744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132C-7AB2-BFA4-B3E6-0DD1038429DB}"/>
              </a:ext>
            </a:extLst>
          </p:cNvPr>
          <p:cNvSpPr>
            <a:spLocks noGrp="1"/>
          </p:cNvSpPr>
          <p:nvPr>
            <p:ph type="title"/>
          </p:nvPr>
        </p:nvSpPr>
        <p:spPr>
          <a:xfrm>
            <a:off x="1005840" y="365125"/>
            <a:ext cx="10347960" cy="567563"/>
          </a:xfrm>
        </p:spPr>
        <p:txBody>
          <a:bodyPr>
            <a:normAutofit fontScale="90000"/>
          </a:bodyPr>
          <a:lstStyle/>
          <a:p>
            <a:r>
              <a:rPr lang="en-IN" dirty="0"/>
              <a:t>                           </a:t>
            </a:r>
            <a:r>
              <a:rPr lang="en-IN"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329C8853-B88C-9758-9D1B-08D32629764F}"/>
              </a:ext>
            </a:extLst>
          </p:cNvPr>
          <p:cNvSpPr>
            <a:spLocks noGrp="1"/>
          </p:cNvSpPr>
          <p:nvPr>
            <p:ph idx="1"/>
          </p:nvPr>
        </p:nvSpPr>
        <p:spPr>
          <a:xfrm>
            <a:off x="838200" y="1060704"/>
            <a:ext cx="10515600" cy="5116259"/>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proposed system focuses on real-time driver safety by analyzing facial features captured through a live camera. Initially, facial features such as Eye Aspect Ratio (EAR), Mouth Aspect Ratio (MAR), blink count, yawning count, eye closure duration, and head direction are extracted from live video frames. These features are stored in a structured dataset collected from multiple individuals, creating a custom driver feature database.</a:t>
            </a:r>
          </a:p>
          <a:p>
            <a:pPr algn="just"/>
            <a:r>
              <a:rPr lang="en-US" dirty="0">
                <a:latin typeface="Times New Roman" panose="02020603050405020304" pitchFamily="18" charset="0"/>
                <a:cs typeface="Times New Roman" panose="02020603050405020304" pitchFamily="18" charset="0"/>
              </a:rPr>
              <a:t>During live driver monitoring, the system continuously extracts facial features and compares them with the stored dataset to identify the driver. Based on the extracted features, deep learning models such as CNN combined LSTM are used to classify the driver’s condition into normal, drowsy, fatigued, or high-risk states. If unsafe conditions are detected—such as eye closure for more than 10 seconds, excessive blinking, or frequent yawning—the system generates real-time visual and audio alerts. This approach ensures early detection of driver fatigue and enhances overall road safety.</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1015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52169-BEEB-EF06-6DF6-E5CA9336F703}"/>
              </a:ext>
            </a:extLst>
          </p:cNvPr>
          <p:cNvSpPr>
            <a:spLocks noGrp="1"/>
          </p:cNvSpPr>
          <p:nvPr>
            <p:ph type="title"/>
          </p:nvPr>
        </p:nvSpPr>
        <p:spPr>
          <a:xfrm>
            <a:off x="4605528" y="374270"/>
            <a:ext cx="7586472" cy="315912"/>
          </a:xfrm>
        </p:spPr>
        <p:txBody>
          <a:bodyPr>
            <a:normAutofit fontScale="90000"/>
          </a:bodyPr>
          <a:lstStyle/>
          <a:p>
            <a:r>
              <a:rPr lang="en-IN" dirty="0">
                <a:latin typeface="Times New Roman" panose="02020603050405020304" pitchFamily="18" charset="0"/>
                <a:cs typeface="Times New Roman" panose="02020603050405020304" pitchFamily="18" charset="0"/>
              </a:rPr>
              <a:t>Proposed Design</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C3B5391A-4349-D788-744E-E9059D756135}"/>
                  </a:ext>
                </a:extLst>
              </p14:cNvPr>
              <p14:cNvContentPartPr/>
              <p14:nvPr/>
            </p14:nvContentPartPr>
            <p14:xfrm>
              <a:off x="5251824" y="4782744"/>
              <a:ext cx="1209960" cy="712440"/>
            </p14:xfrm>
          </p:contentPart>
        </mc:Choice>
        <mc:Fallback xmlns="">
          <p:pic>
            <p:nvPicPr>
              <p:cNvPr id="7" name="Ink 6">
                <a:extLst>
                  <a:ext uri="{FF2B5EF4-FFF2-40B4-BE49-F238E27FC236}">
                    <a16:creationId xmlns:a16="http://schemas.microsoft.com/office/drawing/2014/main" id="{C3B5391A-4349-D788-744E-E9059D756135}"/>
                  </a:ext>
                </a:extLst>
              </p:cNvPr>
              <p:cNvPicPr/>
              <p:nvPr/>
            </p:nvPicPr>
            <p:blipFill>
              <a:blip r:embed="rId4"/>
              <a:stretch>
                <a:fillRect/>
              </a:stretch>
            </p:blipFill>
            <p:spPr>
              <a:xfrm>
                <a:off x="5233824" y="4765104"/>
                <a:ext cx="1245600" cy="748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7300FB53-AC42-C5DB-3E91-CC5E4E9F11EB}"/>
                  </a:ext>
                </a:extLst>
              </p14:cNvPr>
              <p14:cNvContentPartPr/>
              <p14:nvPr/>
            </p14:nvContentPartPr>
            <p14:xfrm>
              <a:off x="5531904" y="4919184"/>
              <a:ext cx="360" cy="360"/>
            </p14:xfrm>
          </p:contentPart>
        </mc:Choice>
        <mc:Fallback xmlns="">
          <p:pic>
            <p:nvPicPr>
              <p:cNvPr id="8" name="Ink 7">
                <a:extLst>
                  <a:ext uri="{FF2B5EF4-FFF2-40B4-BE49-F238E27FC236}">
                    <a16:creationId xmlns:a16="http://schemas.microsoft.com/office/drawing/2014/main" id="{7300FB53-AC42-C5DB-3E91-CC5E4E9F11EB}"/>
                  </a:ext>
                </a:extLst>
              </p:cNvPr>
              <p:cNvPicPr/>
              <p:nvPr/>
            </p:nvPicPr>
            <p:blipFill>
              <a:blip r:embed="rId6"/>
              <a:stretch>
                <a:fillRect/>
              </a:stretch>
            </p:blipFill>
            <p:spPr>
              <a:xfrm>
                <a:off x="5469264" y="485654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7F951FF4-09AD-56B1-881D-0EE88A472016}"/>
                  </a:ext>
                </a:extLst>
              </p14:cNvPr>
              <p14:cNvContentPartPr/>
              <p14:nvPr/>
            </p14:nvContentPartPr>
            <p14:xfrm>
              <a:off x="7781184" y="4114584"/>
              <a:ext cx="360" cy="360"/>
            </p14:xfrm>
          </p:contentPart>
        </mc:Choice>
        <mc:Fallback xmlns="">
          <p:pic>
            <p:nvPicPr>
              <p:cNvPr id="9" name="Ink 8">
                <a:extLst>
                  <a:ext uri="{FF2B5EF4-FFF2-40B4-BE49-F238E27FC236}">
                    <a16:creationId xmlns:a16="http://schemas.microsoft.com/office/drawing/2014/main" id="{7F951FF4-09AD-56B1-881D-0EE88A472016}"/>
                  </a:ext>
                </a:extLst>
              </p:cNvPr>
              <p:cNvPicPr/>
              <p:nvPr/>
            </p:nvPicPr>
            <p:blipFill>
              <a:blip r:embed="rId6"/>
              <a:stretch>
                <a:fillRect/>
              </a:stretch>
            </p:blipFill>
            <p:spPr>
              <a:xfrm>
                <a:off x="7718544" y="405194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E26AFFD3-776D-57CC-3263-59C30A923C37}"/>
                  </a:ext>
                </a:extLst>
              </p14:cNvPr>
              <p14:cNvContentPartPr/>
              <p14:nvPr/>
            </p14:nvContentPartPr>
            <p14:xfrm>
              <a:off x="-274176" y="1033128"/>
              <a:ext cx="360" cy="360"/>
            </p14:xfrm>
          </p:contentPart>
        </mc:Choice>
        <mc:Fallback xmlns="">
          <p:pic>
            <p:nvPicPr>
              <p:cNvPr id="10" name="Ink 9">
                <a:extLst>
                  <a:ext uri="{FF2B5EF4-FFF2-40B4-BE49-F238E27FC236}">
                    <a16:creationId xmlns:a16="http://schemas.microsoft.com/office/drawing/2014/main" id="{E26AFFD3-776D-57CC-3263-59C30A923C37}"/>
                  </a:ext>
                </a:extLst>
              </p:cNvPr>
              <p:cNvPicPr/>
              <p:nvPr/>
            </p:nvPicPr>
            <p:blipFill>
              <a:blip r:embed="rId6"/>
              <a:stretch>
                <a:fillRect/>
              </a:stretch>
            </p:blipFill>
            <p:spPr>
              <a:xfrm>
                <a:off x="-337176" y="97048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FCD3BA94-E55F-73CF-9F3F-6270772B4E50}"/>
                  </a:ext>
                </a:extLst>
              </p14:cNvPr>
              <p14:cNvContentPartPr/>
              <p14:nvPr/>
            </p14:nvContentPartPr>
            <p14:xfrm>
              <a:off x="6089904" y="3876624"/>
              <a:ext cx="360" cy="360"/>
            </p14:xfrm>
          </p:contentPart>
        </mc:Choice>
        <mc:Fallback xmlns="">
          <p:pic>
            <p:nvPicPr>
              <p:cNvPr id="11" name="Ink 10">
                <a:extLst>
                  <a:ext uri="{FF2B5EF4-FFF2-40B4-BE49-F238E27FC236}">
                    <a16:creationId xmlns:a16="http://schemas.microsoft.com/office/drawing/2014/main" id="{FCD3BA94-E55F-73CF-9F3F-6270772B4E50}"/>
                  </a:ext>
                </a:extLst>
              </p:cNvPr>
              <p:cNvPicPr/>
              <p:nvPr/>
            </p:nvPicPr>
            <p:blipFill>
              <a:blip r:embed="rId6"/>
              <a:stretch>
                <a:fillRect/>
              </a:stretch>
            </p:blipFill>
            <p:spPr>
              <a:xfrm>
                <a:off x="6026904" y="3813984"/>
                <a:ext cx="126000" cy="126000"/>
              </a:xfrm>
              <a:prstGeom prst="rect">
                <a:avLst/>
              </a:prstGeom>
            </p:spPr>
          </p:pic>
        </mc:Fallback>
      </mc:AlternateContent>
      <p:pic>
        <p:nvPicPr>
          <p:cNvPr id="16" name="Content Placeholder 15">
            <a:extLst>
              <a:ext uri="{FF2B5EF4-FFF2-40B4-BE49-F238E27FC236}">
                <a16:creationId xmlns:a16="http://schemas.microsoft.com/office/drawing/2014/main" id="{3DE3ABFB-EAB0-AB38-FB6F-72062852EF13}"/>
              </a:ext>
            </a:extLst>
          </p:cNvPr>
          <p:cNvPicPr>
            <a:picLocks noGrp="1" noChangeAspect="1"/>
          </p:cNvPicPr>
          <p:nvPr>
            <p:ph idx="1"/>
          </p:nvPr>
        </p:nvPicPr>
        <p:blipFill>
          <a:blip r:embed="rId10">
            <a:extLst>
              <a:ext uri="{28A0092B-C50C-407E-A947-70E740481C1C}">
                <a14:useLocalDpi xmlns:a14="http://schemas.microsoft.com/office/drawing/2010/main" val="0"/>
              </a:ext>
            </a:extLst>
          </a:blip>
          <a:stretch>
            <a:fillRect/>
          </a:stretch>
        </p:blipFill>
        <p:spPr>
          <a:xfrm>
            <a:off x="2532888" y="1133856"/>
            <a:ext cx="7205471" cy="5468112"/>
          </a:xfrm>
          <a:prstGeom prst="rect">
            <a:avLst/>
          </a:prstGeom>
        </p:spPr>
      </p:pic>
    </p:spTree>
    <p:extLst>
      <p:ext uri="{BB962C8B-B14F-4D97-AF65-F5344CB8AC3E}">
        <p14:creationId xmlns:p14="http://schemas.microsoft.com/office/powerpoint/2010/main" val="1807133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00491-1A25-2D73-198D-3119C87A94D6}"/>
              </a:ext>
            </a:extLst>
          </p:cNvPr>
          <p:cNvSpPr>
            <a:spLocks noGrp="1"/>
          </p:cNvSpPr>
          <p:nvPr>
            <p:ph type="title"/>
          </p:nvPr>
        </p:nvSpPr>
        <p:spPr>
          <a:xfrm>
            <a:off x="838200" y="365125"/>
            <a:ext cx="10515600" cy="723011"/>
          </a:xfrm>
        </p:spPr>
        <p:txBody>
          <a:bodyPr/>
          <a:lstStyle/>
          <a:p>
            <a:r>
              <a:rPr lang="en-IN" dirty="0">
                <a:latin typeface="Times New Roman" panose="02020603050405020304" pitchFamily="18" charset="0"/>
                <a:cs typeface="Times New Roman" panose="02020603050405020304" pitchFamily="18" charset="0"/>
              </a:rPr>
              <a:t>                           Methodology</a:t>
            </a:r>
          </a:p>
        </p:txBody>
      </p:sp>
      <p:sp>
        <p:nvSpPr>
          <p:cNvPr id="3" name="Content Placeholder 2">
            <a:extLst>
              <a:ext uri="{FF2B5EF4-FFF2-40B4-BE49-F238E27FC236}">
                <a16:creationId xmlns:a16="http://schemas.microsoft.com/office/drawing/2014/main" id="{D4D9A253-7822-393B-DEEC-485D7A489D8C}"/>
              </a:ext>
            </a:extLst>
          </p:cNvPr>
          <p:cNvSpPr>
            <a:spLocks noGrp="1"/>
          </p:cNvSpPr>
          <p:nvPr>
            <p:ph idx="1"/>
          </p:nvPr>
        </p:nvSpPr>
        <p:spPr>
          <a:xfrm>
            <a:off x="838200" y="1280160"/>
            <a:ext cx="10515600" cy="4896803"/>
          </a:xfrm>
        </p:spPr>
        <p:txBody>
          <a:bodyPr/>
          <a:lstStyle/>
          <a:p>
            <a:pPr marL="0" indent="0" algn="just">
              <a:buNone/>
            </a:pPr>
            <a:r>
              <a:rPr lang="en-US" dirty="0">
                <a:latin typeface="Times New Roman" panose="02020603050405020304" pitchFamily="18" charset="0"/>
                <a:cs typeface="Times New Roman" panose="02020603050405020304" pitchFamily="18" charset="0"/>
              </a:rPr>
              <a:t>The methodology consists of the following steps:</a:t>
            </a:r>
          </a:p>
          <a:p>
            <a:pPr algn="just"/>
            <a:r>
              <a:rPr lang="en-US" dirty="0">
                <a:latin typeface="Times New Roman" panose="02020603050405020304" pitchFamily="18" charset="0"/>
                <a:cs typeface="Times New Roman" panose="02020603050405020304" pitchFamily="18" charset="0"/>
              </a:rPr>
              <a:t>Capture real-time video of the driver</a:t>
            </a:r>
          </a:p>
          <a:p>
            <a:pPr algn="just"/>
            <a:r>
              <a:rPr lang="en-US" dirty="0">
                <a:latin typeface="Times New Roman" panose="02020603050405020304" pitchFamily="18" charset="0"/>
                <a:cs typeface="Times New Roman" panose="02020603050405020304" pitchFamily="18" charset="0"/>
              </a:rPr>
              <a:t>Detect face and facial landmarks</a:t>
            </a:r>
          </a:p>
          <a:p>
            <a:pPr algn="just"/>
            <a:r>
              <a:rPr lang="en-US" dirty="0">
                <a:latin typeface="Times New Roman" panose="02020603050405020304" pitchFamily="18" charset="0"/>
                <a:cs typeface="Times New Roman" panose="02020603050405020304" pitchFamily="18" charset="0"/>
              </a:rPr>
              <a:t>Extract features such as EAR, MAR, head pose, and eye closure time</a:t>
            </a:r>
          </a:p>
          <a:p>
            <a:pPr algn="just"/>
            <a:r>
              <a:rPr lang="en-US" dirty="0">
                <a:latin typeface="Times New Roman" panose="02020603050405020304" pitchFamily="18" charset="0"/>
                <a:cs typeface="Times New Roman" panose="02020603050405020304" pitchFamily="18" charset="0"/>
              </a:rPr>
              <a:t>Store features in dataset</a:t>
            </a:r>
          </a:p>
          <a:p>
            <a:pPr algn="just"/>
            <a:r>
              <a:rPr lang="en-US" dirty="0">
                <a:latin typeface="Times New Roman" panose="02020603050405020304" pitchFamily="18" charset="0"/>
                <a:cs typeface="Times New Roman" panose="02020603050405020304" pitchFamily="18" charset="0"/>
              </a:rPr>
              <a:t>Compare live data with stored dataset</a:t>
            </a:r>
          </a:p>
          <a:p>
            <a:pPr algn="just"/>
            <a:r>
              <a:rPr lang="en-US" dirty="0">
                <a:latin typeface="Times New Roman" panose="02020603050405020304" pitchFamily="18" charset="0"/>
                <a:cs typeface="Times New Roman" panose="02020603050405020304" pitchFamily="18" charset="0"/>
              </a:rPr>
              <a:t>Analyze behavior using machine learning and Deep Learning models</a:t>
            </a:r>
          </a:p>
          <a:p>
            <a:pPr algn="just"/>
            <a:r>
              <a:rPr lang="en-US" dirty="0">
                <a:latin typeface="Times New Roman" panose="02020603050405020304" pitchFamily="18" charset="0"/>
                <a:cs typeface="Times New Roman" panose="02020603050405020304" pitchFamily="18" charset="0"/>
              </a:rPr>
              <a:t>Determine driver condition</a:t>
            </a:r>
          </a:p>
          <a:p>
            <a:pPr algn="just"/>
            <a:r>
              <a:rPr lang="en-US" dirty="0">
                <a:latin typeface="Times New Roman" panose="02020603050405020304" pitchFamily="18" charset="0"/>
                <a:cs typeface="Times New Roman" panose="02020603050405020304" pitchFamily="18" charset="0"/>
              </a:rPr>
              <a:t>Generate alerts if necessary</a:t>
            </a:r>
          </a:p>
          <a:p>
            <a:endParaRPr lang="en-IN" dirty="0"/>
          </a:p>
        </p:txBody>
      </p:sp>
    </p:spTree>
    <p:extLst>
      <p:ext uri="{BB962C8B-B14F-4D97-AF65-F5344CB8AC3E}">
        <p14:creationId xmlns:p14="http://schemas.microsoft.com/office/powerpoint/2010/main" val="4063268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21429-9997-A546-6FB9-0F53CB91F9EB}"/>
              </a:ext>
            </a:extLst>
          </p:cNvPr>
          <p:cNvSpPr>
            <a:spLocks noGrp="1"/>
          </p:cNvSpPr>
          <p:nvPr>
            <p:ph type="title"/>
          </p:nvPr>
        </p:nvSpPr>
        <p:spPr>
          <a:xfrm>
            <a:off x="838200" y="365125"/>
            <a:ext cx="10515600" cy="530987"/>
          </a:xfrm>
        </p:spPr>
        <p:txBody>
          <a:bodyPr>
            <a:normAutofit fontScale="90000"/>
          </a:bodyPr>
          <a:lstStyle/>
          <a:p>
            <a:r>
              <a:rPr lang="en-IN" dirty="0">
                <a:latin typeface="Times New Roman" panose="02020603050405020304" pitchFamily="18" charset="0"/>
                <a:cs typeface="Times New Roman" panose="02020603050405020304" pitchFamily="18" charset="0"/>
              </a:rPr>
              <a:t>                              Results</a:t>
            </a:r>
          </a:p>
        </p:txBody>
      </p:sp>
      <p:pic>
        <p:nvPicPr>
          <p:cNvPr id="5" name="Content Placeholder 4">
            <a:extLst>
              <a:ext uri="{FF2B5EF4-FFF2-40B4-BE49-F238E27FC236}">
                <a16:creationId xmlns:a16="http://schemas.microsoft.com/office/drawing/2014/main" id="{B94259CC-439C-1127-0893-03CE3EDCCFDE}"/>
              </a:ext>
            </a:extLst>
          </p:cNvPr>
          <p:cNvPicPr>
            <a:picLocks noGrp="1" noChangeAspect="1"/>
          </p:cNvPicPr>
          <p:nvPr>
            <p:ph idx="1"/>
          </p:nvPr>
        </p:nvPicPr>
        <p:blipFill>
          <a:blip r:embed="rId2"/>
          <a:stretch>
            <a:fillRect/>
          </a:stretch>
        </p:blipFill>
        <p:spPr>
          <a:xfrm>
            <a:off x="2781300" y="3703320"/>
            <a:ext cx="6483095" cy="2587752"/>
          </a:xfrm>
          <a:prstGeom prst="rect">
            <a:avLst/>
          </a:prstGeom>
        </p:spPr>
      </p:pic>
      <p:sp>
        <p:nvSpPr>
          <p:cNvPr id="7" name="TextBox 6">
            <a:extLst>
              <a:ext uri="{FF2B5EF4-FFF2-40B4-BE49-F238E27FC236}">
                <a16:creationId xmlns:a16="http://schemas.microsoft.com/office/drawing/2014/main" id="{5CE78A24-2696-8B92-7299-02E88F855140}"/>
              </a:ext>
            </a:extLst>
          </p:cNvPr>
          <p:cNvSpPr txBox="1"/>
          <p:nvPr/>
        </p:nvSpPr>
        <p:spPr>
          <a:xfrm>
            <a:off x="1152144" y="1305342"/>
            <a:ext cx="10201656" cy="2585323"/>
          </a:xfrm>
          <a:prstGeom prst="rect">
            <a:avLst/>
          </a:prstGeom>
          <a:noFill/>
        </p:spPr>
        <p:txBody>
          <a:bodyPr wrap="square">
            <a:spAutoFit/>
          </a:bodyPr>
          <a:lstStyle/>
          <a:p>
            <a:pPr algn="just">
              <a:buNone/>
            </a:pPr>
            <a:r>
              <a:rPr lang="en-US" dirty="0">
                <a:latin typeface="Times New Roman" panose="02020603050405020304" pitchFamily="18" charset="0"/>
                <a:cs typeface="Times New Roman" panose="02020603050405020304" pitchFamily="18" charset="0"/>
              </a:rPr>
              <a:t>The proposed system was evaluated using standard classification metrics across three driver states: Normal, Fatigue, and Drowsy. The system achieved an overall accuracy of 97%, demonstrating strong performance in real-time driver monitoring. Class-wise evaluation shows that the Normal state achieved a precision of 0.95, recall of 0.91, and F1-score of 0.93, while the Fatigue state recorded 0.97 precision, 0.95 recall, and 0.96 F1-score. The highest performance was observed in the Drowsy state, with a precision of 0.96, recall of 0.99, and F1-score of 0.98. The macro and weighted average scores further confirm the model’s balanced and consistent performance, indicating low false positives and false negatives across all classes. Overall, the results validate that the system effectively detects driver fatigue and drowsiness with high reliability in real-time scenarios.</a:t>
            </a:r>
          </a:p>
        </p:txBody>
      </p:sp>
    </p:spTree>
    <p:extLst>
      <p:ext uri="{BB962C8B-B14F-4D97-AF65-F5344CB8AC3E}">
        <p14:creationId xmlns:p14="http://schemas.microsoft.com/office/powerpoint/2010/main" val="2077453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ECF3E-35D5-EC1B-F81F-F9936E084F82}"/>
              </a:ext>
            </a:extLst>
          </p:cNvPr>
          <p:cNvSpPr>
            <a:spLocks noGrp="1"/>
          </p:cNvSpPr>
          <p:nvPr>
            <p:ph type="title"/>
          </p:nvPr>
        </p:nvSpPr>
        <p:spPr/>
        <p:txBody>
          <a:bodyPr/>
          <a:lstStyle/>
          <a:p>
            <a:r>
              <a:rPr lang="en-IN" dirty="0"/>
              <a:t>                  . </a:t>
            </a:r>
          </a:p>
        </p:txBody>
      </p:sp>
      <p:pic>
        <p:nvPicPr>
          <p:cNvPr id="4" name="Content Placeholder 4">
            <a:extLst>
              <a:ext uri="{FF2B5EF4-FFF2-40B4-BE49-F238E27FC236}">
                <a16:creationId xmlns:a16="http://schemas.microsoft.com/office/drawing/2014/main" id="{71248318-7B4D-2200-9C76-A4080AD711B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l="11140" t="17636" r="39972" b="19982"/>
          <a:stretch>
            <a:fillRect/>
          </a:stretch>
        </p:blipFill>
        <p:spPr>
          <a:xfrm>
            <a:off x="1614377" y="868418"/>
            <a:ext cx="3627474" cy="2098066"/>
          </a:xfrm>
          <a:prstGeom prst="rect">
            <a:avLst/>
          </a:prstGeom>
        </p:spPr>
      </p:pic>
      <p:sp>
        <p:nvSpPr>
          <p:cNvPr id="6" name="TextBox 5">
            <a:extLst>
              <a:ext uri="{FF2B5EF4-FFF2-40B4-BE49-F238E27FC236}">
                <a16:creationId xmlns:a16="http://schemas.microsoft.com/office/drawing/2014/main" id="{D55B269D-C036-9632-97FF-61FCF5C2A887}"/>
              </a:ext>
            </a:extLst>
          </p:cNvPr>
          <p:cNvSpPr txBox="1"/>
          <p:nvPr/>
        </p:nvSpPr>
        <p:spPr>
          <a:xfrm>
            <a:off x="2192965" y="3059668"/>
            <a:ext cx="6097772" cy="369332"/>
          </a:xfrm>
          <a:prstGeom prst="rect">
            <a:avLst/>
          </a:prstGeom>
          <a:noFill/>
        </p:spPr>
        <p:txBody>
          <a:bodyPr wrap="square">
            <a:spAutoFit/>
          </a:bodyPr>
          <a:lstStyle/>
          <a:p>
            <a:pPr algn="just">
              <a:buNone/>
            </a:pPr>
            <a:r>
              <a:rPr lang="en-IN" sz="1800" b="1" dirty="0">
                <a:ln>
                  <a:noFill/>
                </a:ln>
                <a:solidFill>
                  <a:srgbClr val="4472C4"/>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NORMAL STATE</a:t>
            </a:r>
            <a:endParaRPr lang="en-IN" sz="1600" dirty="0">
              <a:effectLst/>
              <a:latin typeface="Calibri" panose="020F0502020204030204" pitchFamily="34" charset="0"/>
              <a:ea typeface="Calibri" panose="020F0502020204030204" pitchFamily="34" charset="0"/>
            </a:endParaRPr>
          </a:p>
        </p:txBody>
      </p:sp>
      <p:pic>
        <p:nvPicPr>
          <p:cNvPr id="7" name="Picture 6">
            <a:extLst>
              <a:ext uri="{FF2B5EF4-FFF2-40B4-BE49-F238E27FC236}">
                <a16:creationId xmlns:a16="http://schemas.microsoft.com/office/drawing/2014/main" id="{8C4E4A81-3032-12AD-B188-2B478129E489}"/>
              </a:ext>
            </a:extLst>
          </p:cNvPr>
          <p:cNvPicPr>
            <a:picLocks noChangeAspect="1"/>
          </p:cNvPicPr>
          <p:nvPr/>
        </p:nvPicPr>
        <p:blipFill>
          <a:blip r:embed="rId3" cstate="print">
            <a:extLst>
              <a:ext uri="{28A0092B-C50C-407E-A947-70E740481C1C}">
                <a14:useLocalDpi xmlns:a14="http://schemas.microsoft.com/office/drawing/2010/main" val="0"/>
              </a:ext>
            </a:extLst>
          </a:blip>
          <a:srcRect l="11034" t="16297" r="43905" b="19630"/>
          <a:stretch>
            <a:fillRect/>
          </a:stretch>
        </p:blipFill>
        <p:spPr>
          <a:xfrm>
            <a:off x="7060019" y="946298"/>
            <a:ext cx="3423683" cy="2020186"/>
          </a:xfrm>
          <a:prstGeom prst="rect">
            <a:avLst/>
          </a:prstGeom>
        </p:spPr>
      </p:pic>
      <p:sp>
        <p:nvSpPr>
          <p:cNvPr id="9" name="TextBox 8">
            <a:extLst>
              <a:ext uri="{FF2B5EF4-FFF2-40B4-BE49-F238E27FC236}">
                <a16:creationId xmlns:a16="http://schemas.microsoft.com/office/drawing/2014/main" id="{0A77EE5E-ADD1-761F-04EC-1BFEF55C1FEE}"/>
              </a:ext>
            </a:extLst>
          </p:cNvPr>
          <p:cNvSpPr txBox="1"/>
          <p:nvPr/>
        </p:nvSpPr>
        <p:spPr>
          <a:xfrm>
            <a:off x="7759110" y="2966484"/>
            <a:ext cx="6097772" cy="369332"/>
          </a:xfrm>
          <a:prstGeom prst="rect">
            <a:avLst/>
          </a:prstGeom>
          <a:noFill/>
        </p:spPr>
        <p:txBody>
          <a:bodyPr wrap="square">
            <a:spAutoFit/>
          </a:bodyPr>
          <a:lstStyle/>
          <a:p>
            <a:pPr algn="just">
              <a:buNone/>
            </a:pPr>
            <a:r>
              <a:rPr lang="en-IN" b="1" dirty="0">
                <a:solidFill>
                  <a:srgbClr val="4472C4"/>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   </a:t>
            </a:r>
            <a:r>
              <a:rPr lang="en-IN" sz="1800" b="1" dirty="0">
                <a:ln>
                  <a:noFill/>
                </a:ln>
                <a:solidFill>
                  <a:srgbClr val="4472C4"/>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Excess Blinking</a:t>
            </a:r>
            <a:endParaRPr lang="en-IN" sz="1600" dirty="0">
              <a:effectLst/>
              <a:latin typeface="Calibri" panose="020F0502020204030204" pitchFamily="34" charset="0"/>
              <a:ea typeface="Calibri" panose="020F0502020204030204" pitchFamily="34" charset="0"/>
            </a:endParaRPr>
          </a:p>
        </p:txBody>
      </p:sp>
      <p:pic>
        <p:nvPicPr>
          <p:cNvPr id="10" name="Content Placeholder 4">
            <a:extLst>
              <a:ext uri="{FF2B5EF4-FFF2-40B4-BE49-F238E27FC236}">
                <a16:creationId xmlns:a16="http://schemas.microsoft.com/office/drawing/2014/main" id="{D1C7934D-45FE-E52E-5454-BFFA715240BF}"/>
              </a:ext>
            </a:extLst>
          </p:cNvPr>
          <p:cNvPicPr>
            <a:picLocks noChangeAspect="1"/>
          </p:cNvPicPr>
          <p:nvPr/>
        </p:nvPicPr>
        <p:blipFill>
          <a:blip r:embed="rId4" cstate="print">
            <a:extLst>
              <a:ext uri="{28A0092B-C50C-407E-A947-70E740481C1C}">
                <a14:useLocalDpi xmlns:a14="http://schemas.microsoft.com/office/drawing/2010/main" val="0"/>
              </a:ext>
            </a:extLst>
          </a:blip>
          <a:srcRect l="10964" t="15249" r="40270" b="20734"/>
          <a:stretch>
            <a:fillRect/>
          </a:stretch>
        </p:blipFill>
        <p:spPr>
          <a:xfrm>
            <a:off x="4338084" y="3531708"/>
            <a:ext cx="3253563" cy="2199241"/>
          </a:xfrm>
          <a:prstGeom prst="rect">
            <a:avLst/>
          </a:prstGeom>
        </p:spPr>
      </p:pic>
      <p:sp>
        <p:nvSpPr>
          <p:cNvPr id="12" name="TextBox 11">
            <a:extLst>
              <a:ext uri="{FF2B5EF4-FFF2-40B4-BE49-F238E27FC236}">
                <a16:creationId xmlns:a16="http://schemas.microsoft.com/office/drawing/2014/main" id="{16ADD9C3-8F35-DE40-DE91-9E56460443A1}"/>
              </a:ext>
            </a:extLst>
          </p:cNvPr>
          <p:cNvSpPr txBox="1"/>
          <p:nvPr/>
        </p:nvSpPr>
        <p:spPr>
          <a:xfrm>
            <a:off x="5154133" y="5760039"/>
            <a:ext cx="6927110" cy="369332"/>
          </a:xfrm>
          <a:prstGeom prst="rect">
            <a:avLst/>
          </a:prstGeom>
          <a:noFill/>
        </p:spPr>
        <p:txBody>
          <a:bodyPr wrap="square">
            <a:spAutoFit/>
          </a:bodyPr>
          <a:lstStyle/>
          <a:p>
            <a:pPr>
              <a:spcBef>
                <a:spcPts val="600"/>
              </a:spcBef>
              <a:spcAft>
                <a:spcPts val="300"/>
              </a:spcAft>
              <a:buNone/>
            </a:pPr>
            <a:r>
              <a:rPr lang="en-IN" sz="1800" b="1" dirty="0">
                <a:ln>
                  <a:noFill/>
                </a:ln>
                <a:solidFill>
                  <a:srgbClr val="4472C4"/>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Excess Yawning</a:t>
            </a:r>
            <a:endParaRPr lang="en-IN" sz="16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371297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3D58A-4F78-3EF3-3A67-9B0E96817787}"/>
              </a:ext>
            </a:extLst>
          </p:cNvPr>
          <p:cNvSpPr>
            <a:spLocks noGrp="1"/>
          </p:cNvSpPr>
          <p:nvPr>
            <p:ph type="title"/>
          </p:nvPr>
        </p:nvSpPr>
        <p:spPr>
          <a:xfrm>
            <a:off x="838200" y="365125"/>
            <a:ext cx="10515600" cy="1088771"/>
          </a:xfrm>
        </p:spPr>
        <p:txBody>
          <a:bodyPr/>
          <a:lstStyle/>
          <a:p>
            <a:r>
              <a:rPr lang="en-IN" dirty="0">
                <a:latin typeface="Times New Roman" panose="02020603050405020304" pitchFamily="18" charset="0"/>
                <a:cs typeface="Times New Roman" panose="02020603050405020304" pitchFamily="18" charset="0"/>
              </a:rPr>
              <a:t>                            conclusion</a:t>
            </a:r>
          </a:p>
        </p:txBody>
      </p:sp>
      <p:sp>
        <p:nvSpPr>
          <p:cNvPr id="3" name="Content Placeholder 2">
            <a:extLst>
              <a:ext uri="{FF2B5EF4-FFF2-40B4-BE49-F238E27FC236}">
                <a16:creationId xmlns:a16="http://schemas.microsoft.com/office/drawing/2014/main" id="{C1D44FBF-2347-4C2B-EAE4-B4ECADA41707}"/>
              </a:ext>
            </a:extLst>
          </p:cNvPr>
          <p:cNvSpPr>
            <a:spLocks noGrp="1"/>
          </p:cNvSpPr>
          <p:nvPr>
            <p:ph idx="1"/>
          </p:nvPr>
        </p:nvSpPr>
        <p:spPr>
          <a:xfrm>
            <a:off x="838200" y="1591056"/>
            <a:ext cx="10515600" cy="4585907"/>
          </a:xfrm>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The proposed Smart Cam Driver Fatigue and Depression Detection System provides an effective real-time driver monitoring solution using facial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analysis. By leveraging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FaceMesh</a:t>
            </a:r>
            <a:r>
              <a:rPr lang="en-US" dirty="0">
                <a:latin typeface="Times New Roman" panose="02020603050405020304" pitchFamily="18" charset="0"/>
                <a:cs typeface="Times New Roman" panose="02020603050405020304" pitchFamily="18" charset="0"/>
              </a:rPr>
              <a:t>, the system extracts 468 facial landmarks to compute multiple </a:t>
            </a:r>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features such as EAR, MAR, blink rate, yawn detection, head pose, and emotion. It operates through a three-phase pipeline consisting of feature extraction, dataset collection, and live monitoring with automatic person identification and alert generation. The system delivers reliable performance without requiring pre-trained deep learning models or specialized hardware, making it cost-effective and easily deployable. Compared to existing approaches, it offers improved multi-cue detection, real-time analysis, and lower false positives under different conditions. Overall, the system demonstrates strong potential for enhancing road safety and can be further extended using advanced models like CNN–LSTM for improved accuracy and real-world adaptability.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6862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96865-0F67-ABDE-A864-8916689F79C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Future Work</a:t>
            </a:r>
          </a:p>
        </p:txBody>
      </p:sp>
      <p:sp>
        <p:nvSpPr>
          <p:cNvPr id="3" name="Content Placeholder 2">
            <a:extLst>
              <a:ext uri="{FF2B5EF4-FFF2-40B4-BE49-F238E27FC236}">
                <a16:creationId xmlns:a16="http://schemas.microsoft.com/office/drawing/2014/main" id="{2F7B20B0-F0EE-7FFC-162F-862CE303FA40}"/>
              </a:ext>
            </a:extLst>
          </p:cNvPr>
          <p:cNvSpPr>
            <a:spLocks noGrp="1"/>
          </p:cNvSpPr>
          <p:nvPr>
            <p:ph idx="1"/>
          </p:nvPr>
        </p:nvSpPr>
        <p:spPr>
          <a:xfrm>
            <a:off x="838200" y="1481328"/>
            <a:ext cx="10515600" cy="4695635"/>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The future development of this system focuses on enhancing accuracy, robustness, and real-world applicability. A hybrid CNN–LSTM model will be implemented to replace the existing rule-based classifier, enabling improved emotion detection and temporal analysis of driver behavior. To ensure better performance under challenging conditions, low-light image enhancement techniques will be incorporated. The system will also integrate advanced face recognition methods such as </a:t>
            </a:r>
            <a:r>
              <a:rPr lang="en-US" dirty="0" err="1">
                <a:latin typeface="Times New Roman" panose="02020603050405020304" pitchFamily="18" charset="0"/>
                <a:cs typeface="Times New Roman" panose="02020603050405020304" pitchFamily="18" charset="0"/>
              </a:rPr>
              <a:t>ArcFace</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FaceNet</a:t>
            </a:r>
            <a:r>
              <a:rPr lang="en-US" dirty="0">
                <a:latin typeface="Times New Roman" panose="02020603050405020304" pitchFamily="18" charset="0"/>
                <a:cs typeface="Times New Roman" panose="02020603050405020304" pitchFamily="18" charset="0"/>
              </a:rPr>
              <a:t> for reliable driver identification. Additionally, it will be extended to detect driver distractions, including mobile phone usage and other activities. Large-scale evaluation with diverse users will be conducted to obtain reliable performance metrics, and the system will be optimized for deployment on embedded platforms like Raspberry Pi and Jetson Nano.</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0361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B538-DB64-059A-ACDF-FBCF79AC26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6EFC74-689B-654E-F714-2358A382F939}"/>
              </a:ext>
            </a:extLst>
          </p:cNvPr>
          <p:cNvSpPr>
            <a:spLocks noGrp="1"/>
          </p:cNvSpPr>
          <p:nvPr>
            <p:ph idx="1"/>
          </p:nvPr>
        </p:nvSpPr>
        <p:spPr>
          <a:xfrm>
            <a:off x="2348564" y="2377439"/>
            <a:ext cx="9005236" cy="3799523"/>
          </a:xfrm>
        </p:spPr>
        <p:txBody>
          <a:bodyPr>
            <a:normAutofit/>
          </a:bodyPr>
          <a:lstStyle/>
          <a:p>
            <a:pPr marL="0" indent="0">
              <a:buNone/>
            </a:pPr>
            <a:r>
              <a:rPr lang="en-IN" sz="9600" dirty="0"/>
              <a:t>Thank You</a:t>
            </a:r>
          </a:p>
        </p:txBody>
      </p:sp>
    </p:spTree>
    <p:extLst>
      <p:ext uri="{BB962C8B-B14F-4D97-AF65-F5344CB8AC3E}">
        <p14:creationId xmlns:p14="http://schemas.microsoft.com/office/powerpoint/2010/main" val="3886250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1555</TotalTime>
  <Words>1424</Words>
  <Application>Microsoft Office PowerPoint</Application>
  <PresentationFormat>Widescreen</PresentationFormat>
  <Paragraphs>85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Smart Cam For Driver Fatigue and Depression Detection Through Enhanced Facial Behaviour Recognition </vt:lpstr>
      <vt:lpstr>                                 Contents</vt:lpstr>
      <vt:lpstr>                    Problem Statement</vt:lpstr>
      <vt:lpstr>                          Abstract</vt:lpstr>
      <vt:lpstr>                       Literature Survey</vt:lpstr>
      <vt:lpstr>PowerPoint Presentation</vt:lpstr>
      <vt:lpstr>                           Existing System</vt:lpstr>
      <vt:lpstr>             Existing Design</vt:lpstr>
      <vt:lpstr>                           Proposed System</vt:lpstr>
      <vt:lpstr>Proposed Design</vt:lpstr>
      <vt:lpstr>                           Methodology</vt:lpstr>
      <vt:lpstr>                              Results</vt:lpstr>
      <vt:lpstr>                  . </vt:lpstr>
      <vt:lpstr>                            conclusion</vt:lpstr>
      <vt:lpstr>                            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Yamini Jasthi</dc:creator>
  <cp:lastModifiedBy>Yamini Jasthi</cp:lastModifiedBy>
  <cp:revision>2</cp:revision>
  <dcterms:created xsi:type="dcterms:W3CDTF">2026-01-23T11:04:47Z</dcterms:created>
  <dcterms:modified xsi:type="dcterms:W3CDTF">2026-04-25T05:27:28Z</dcterms:modified>
</cp:coreProperties>
</file>